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1" r:id="rId5"/>
    <p:sldId id="262" r:id="rId6"/>
    <p:sldId id="263" r:id="rId7"/>
    <p:sldId id="264" r:id="rId8"/>
    <p:sldId id="265" r:id="rId9"/>
    <p:sldId id="266" r:id="rId10"/>
    <p:sldId id="267" r:id="rId11"/>
    <p:sldId id="268" r:id="rId12"/>
    <p:sldId id="269" r:id="rId13"/>
    <p:sldId id="271" r:id="rId14"/>
    <p:sldId id="272" r:id="rId15"/>
    <p:sldId id="273" r:id="rId16"/>
    <p:sldId id="258"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339A56-BE43-E002-0B01-926E5998FB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9E4396E-3B56-6939-11C2-3C5ADDF99F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2B89601-8225-CB34-39FF-C1D3B53CA2E0}"/>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21B64A1F-A8AA-A8B7-8D89-A82981AC95D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C8DD520-367B-06A6-03EC-C7D249E5B02F}"/>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39275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1DA422-010D-F5F6-E73F-0793553E73A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5625F1C-4C9F-3D29-8D57-8B79D9AD921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6A9CC19-3459-EA20-D37E-30685E7E7AE0}"/>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E85C0DA6-5CDA-F03D-2995-725A5BBC2FF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66F73FA-CEC1-B815-D828-6431718FD534}"/>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038468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3AB3AD-5AC2-82A8-F576-4C58822BA0C0}"/>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E02D0D19-6BBD-0503-3CFB-8FA747D72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F163828-88FA-F8AC-71E9-0ECA9A21EB50}"/>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D13076A8-DC6B-FC09-5E41-F6ADAAD4B05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7FB39A2-AD71-ABD3-800D-7C8470AE1CFF}"/>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4028722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1B55C9-CF23-1748-F899-5E6EDC0AE7B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C71CD95-4D5F-723E-A5A5-4CCD1FDD1F9C}"/>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39A62374-A683-6A14-6C31-1BD616E5E74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A63A1505-15D9-8826-A234-62FEC1440D76}"/>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6" name="Fußzeilenplatzhalter 5">
            <a:extLst>
              <a:ext uri="{FF2B5EF4-FFF2-40B4-BE49-F238E27FC236}">
                <a16:creationId xmlns:a16="http://schemas.microsoft.com/office/drawing/2014/main" id="{796B54F0-BF2A-6803-701A-35407F38EF2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631E8D6-B067-23DD-553D-2C642943D9AC}"/>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68642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893197-5A5C-28AB-FF18-C86DDA11C941}"/>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48762A4-1D2F-83A8-EE60-D319111952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7B6496B-2C52-A655-68EF-4BAAF66690AB}"/>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B6855A5-C7AB-A9DF-A85E-30FD286519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F794A53-D638-E4D8-914A-D27828E8B54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41C1040-9741-E0C9-3E37-FAE2D55889DA}"/>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8" name="Fußzeilenplatzhalter 7">
            <a:extLst>
              <a:ext uri="{FF2B5EF4-FFF2-40B4-BE49-F238E27FC236}">
                <a16:creationId xmlns:a16="http://schemas.microsoft.com/office/drawing/2014/main" id="{4ED3E689-88F8-E5EF-9962-AA5127C0197C}"/>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DA4546C8-FF9E-0731-43D5-68593CAC913C}"/>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3304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AC9520-AFBE-60E8-433B-95F71D8F5C3C}"/>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41B17FE-2CC4-5571-E837-CE719777FCD1}"/>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4" name="Fußzeilenplatzhalter 3">
            <a:extLst>
              <a:ext uri="{FF2B5EF4-FFF2-40B4-BE49-F238E27FC236}">
                <a16:creationId xmlns:a16="http://schemas.microsoft.com/office/drawing/2014/main" id="{427114F3-760E-73C5-BEA9-7E8BC181FFB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12C447F-A692-4D22-5C9C-C11AF2D15A2F}"/>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5126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4907073-FB15-143F-8643-C5739DE6A7A7}"/>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3" name="Fußzeilenplatzhalter 2">
            <a:extLst>
              <a:ext uri="{FF2B5EF4-FFF2-40B4-BE49-F238E27FC236}">
                <a16:creationId xmlns:a16="http://schemas.microsoft.com/office/drawing/2014/main" id="{7A83A45A-755D-C82C-4CFB-ADA4353D7E47}"/>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6E84CAD-A4D5-4357-D0C6-E334755360ED}"/>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428014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102E87-CE16-BE44-D31A-AE79AF5E464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59B9B484-B78F-B3AB-BB5F-9A6DDE8B8E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17BD46A8-FD94-B787-CB53-DFF8E7FE8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8618822-8A48-8C50-844D-5638232CDB72}"/>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6" name="Fußzeilenplatzhalter 5">
            <a:extLst>
              <a:ext uri="{FF2B5EF4-FFF2-40B4-BE49-F238E27FC236}">
                <a16:creationId xmlns:a16="http://schemas.microsoft.com/office/drawing/2014/main" id="{299DCC84-C7B9-A833-3268-B735C74A309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516D3F6-4877-E955-93FB-DC4E3F20883D}"/>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401797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C2300E-29E0-311B-E5F9-83202A43153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9347FBB-934E-F179-F8B8-DB490532CB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B0555F1-B719-0D15-8476-EE5B27B72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352DCC1-555F-7545-BC2A-51D63B271C10}"/>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6" name="Fußzeilenplatzhalter 5">
            <a:extLst>
              <a:ext uri="{FF2B5EF4-FFF2-40B4-BE49-F238E27FC236}">
                <a16:creationId xmlns:a16="http://schemas.microsoft.com/office/drawing/2014/main" id="{F04B851D-FB01-9C77-38DF-8575FB00745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FB3CACC-928B-42F1-C2F2-17D5FBB1F884}"/>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122426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4B37A5-C00E-364D-F704-D21C0734913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0B140679-A904-6363-FB04-3987CBAB521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7040A47-8AB2-DC86-4F16-9D0E66D7BE5B}"/>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DCB02B5C-F415-539A-E840-87468A9C0D1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852821B-2033-47EC-22ED-50B62FC0FDC7}"/>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09648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83FCC8B8-28B6-B1C6-8DE1-2BB40E2BDB6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BA951E75-78C0-B821-9679-31E6C05580F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171CD4F-F7A5-D330-C75D-E8BC4CB4481B}"/>
              </a:ext>
            </a:extLst>
          </p:cNvPr>
          <p:cNvSpPr>
            <a:spLocks noGrp="1"/>
          </p:cNvSpPr>
          <p:nvPr>
            <p:ph type="dt" sz="half" idx="10"/>
          </p:nvPr>
        </p:nvSpPr>
        <p:spPr/>
        <p:txBody>
          <a:body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F4492113-B801-48CF-D71B-B83F44F959F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3DDEBE1-C7CB-8788-0BCE-CCB96A185315}"/>
              </a:ext>
            </a:extLst>
          </p:cNvPr>
          <p:cNvSpPr>
            <a:spLocks noGrp="1"/>
          </p:cNvSpPr>
          <p:nvPr>
            <p:ph type="sldNum" sz="quarter" idx="12"/>
          </p:nvPr>
        </p:nvSpPr>
        <p:spPr/>
        <p:txBody>
          <a:bodyPr/>
          <a:lstStyle/>
          <a:p>
            <a:fld id="{C04234CF-30E3-6349-BE34-DD11299BE4B8}" type="slidenum">
              <a:rPr lang="de-DE" smtClean="0"/>
              <a:t>‹Nr.›</a:t>
            </a:fld>
            <a:endParaRPr lang="de-DE"/>
          </a:p>
        </p:txBody>
      </p:sp>
    </p:spTree>
    <p:extLst>
      <p:ext uri="{BB962C8B-B14F-4D97-AF65-F5344CB8AC3E}">
        <p14:creationId xmlns:p14="http://schemas.microsoft.com/office/powerpoint/2010/main" val="105449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272A069-7FFD-1D0A-AA96-FE0525CE43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EACDF73-B3E5-6F07-D3FD-D7866A5EE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D4E113A-F043-C0C6-32E3-DE180F59F3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71E98C-ABEA-F741-A4EE-186D3024D94C}" type="datetimeFigureOut">
              <a:rPr lang="de-DE" smtClean="0"/>
              <a:t>19.04.26</a:t>
            </a:fld>
            <a:endParaRPr lang="de-DE"/>
          </a:p>
        </p:txBody>
      </p:sp>
      <p:sp>
        <p:nvSpPr>
          <p:cNvPr id="5" name="Fußzeilenplatzhalter 4">
            <a:extLst>
              <a:ext uri="{FF2B5EF4-FFF2-40B4-BE49-F238E27FC236}">
                <a16:creationId xmlns:a16="http://schemas.microsoft.com/office/drawing/2014/main" id="{F778ADF4-974F-58ED-EE0D-BFF6944219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C7F480F0-E236-E264-90DF-F7881202F3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4234CF-30E3-6349-BE34-DD11299BE4B8}" type="slidenum">
              <a:rPr lang="de-DE" smtClean="0"/>
              <a:t>‹Nr.›</a:t>
            </a:fld>
            <a:endParaRPr lang="de-DE"/>
          </a:p>
        </p:txBody>
      </p:sp>
    </p:spTree>
    <p:extLst>
      <p:ext uri="{BB962C8B-B14F-4D97-AF65-F5344CB8AC3E}">
        <p14:creationId xmlns:p14="http://schemas.microsoft.com/office/powerpoint/2010/main" val="4168255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descr="Ein Bild, das Text, Screenshot, Schrift enthält.&#10;&#10;KI-generierte Inhalte können fehlerhaft sein.">
            <a:extLst>
              <a:ext uri="{FF2B5EF4-FFF2-40B4-BE49-F238E27FC236}">
                <a16:creationId xmlns:a16="http://schemas.microsoft.com/office/drawing/2014/main" id="{B608C2A3-C3CB-8780-9ECD-1918B08CC5BF}"/>
              </a:ext>
            </a:extLst>
          </p:cNvPr>
          <p:cNvPicPr>
            <a:picLocks noChangeAspect="1"/>
          </p:cNvPicPr>
          <p:nvPr/>
        </p:nvPicPr>
        <p:blipFill>
          <a:blip r:embed="rId2"/>
          <a:stretch>
            <a:fillRect/>
          </a:stretch>
        </p:blipFill>
        <p:spPr>
          <a:xfrm>
            <a:off x="3581400" y="1854200"/>
            <a:ext cx="5029200" cy="3149600"/>
          </a:xfrm>
          <a:prstGeom prst="rect">
            <a:avLst/>
          </a:prstGeom>
        </p:spPr>
      </p:pic>
    </p:spTree>
    <p:extLst>
      <p:ext uri="{BB962C8B-B14F-4D97-AF65-F5344CB8AC3E}">
        <p14:creationId xmlns:p14="http://schemas.microsoft.com/office/powerpoint/2010/main" val="1061616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1148FB2D-425D-07C7-4201-C9C14A515284}"/>
              </a:ext>
            </a:extLst>
          </p:cNvPr>
          <p:cNvSpPr txBox="1"/>
          <p:nvPr/>
        </p:nvSpPr>
        <p:spPr>
          <a:xfrm>
            <a:off x="1475726" y="634867"/>
            <a:ext cx="9393517" cy="923330"/>
          </a:xfrm>
          <a:prstGeom prst="rect">
            <a:avLst/>
          </a:prstGeom>
          <a:noFill/>
        </p:spPr>
        <p:txBody>
          <a:bodyPr wrap="square" rtlCol="0">
            <a:spAutoFit/>
          </a:bodyPr>
          <a:lstStyle/>
          <a:p>
            <a:pPr lvl="0" eaLnBrk="0" fontAlgn="base" hangingPunct="0">
              <a:spcBef>
                <a:spcPct val="0"/>
              </a:spcBef>
              <a:spcAft>
                <a:spcPct val="0"/>
              </a:spcAft>
            </a:pPr>
            <a:r>
              <a:rPr lang="de-DE" altLang="de-DE" dirty="0">
                <a:solidFill>
                  <a:srgbClr val="000000"/>
                </a:solidFill>
                <a:latin typeface="-webkit-standard"/>
              </a:rPr>
              <a:t>Bitte tragen Sie im untenstehenden Feld alle Ihre Hypothekartranchen ein.</a:t>
            </a:r>
            <a:br>
              <a:rPr lang="de-DE" altLang="de-DE" dirty="0"/>
            </a:br>
            <a:r>
              <a:rPr lang="de-DE" altLang="de-DE" dirty="0">
                <a:solidFill>
                  <a:srgbClr val="000000"/>
                </a:solidFill>
                <a:latin typeface="-webkit-standard"/>
              </a:rPr>
              <a:t>Bei mehreren Tranchen prüft das System automatisch, ob eine Ablösung durch ein anderes Institut möglich ist.</a:t>
            </a:r>
            <a:endParaRPr lang="de-DE" altLang="de-DE" dirty="0">
              <a:latin typeface="Arial" panose="020B0604020202020204" pitchFamily="34" charset="0"/>
            </a:endParaRPr>
          </a:p>
        </p:txBody>
      </p:sp>
      <p:graphicFrame>
        <p:nvGraphicFramePr>
          <p:cNvPr id="5" name="Tabelle 4">
            <a:extLst>
              <a:ext uri="{FF2B5EF4-FFF2-40B4-BE49-F238E27FC236}">
                <a16:creationId xmlns:a16="http://schemas.microsoft.com/office/drawing/2014/main" id="{B7F7FEA7-6167-79E3-FD96-139E42C6D55B}"/>
              </a:ext>
            </a:extLst>
          </p:cNvPr>
          <p:cNvGraphicFramePr>
            <a:graphicFrameLocks noGrp="1"/>
          </p:cNvGraphicFramePr>
          <p:nvPr>
            <p:extLst>
              <p:ext uri="{D42A27DB-BD31-4B8C-83A1-F6EECF244321}">
                <p14:modId xmlns:p14="http://schemas.microsoft.com/office/powerpoint/2010/main" val="1705812277"/>
              </p:ext>
            </p:extLst>
          </p:nvPr>
        </p:nvGraphicFramePr>
        <p:xfrm>
          <a:off x="1806802" y="1927666"/>
          <a:ext cx="8127999" cy="275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39404048"/>
                    </a:ext>
                  </a:extLst>
                </a:gridCol>
                <a:gridCol w="2709333">
                  <a:extLst>
                    <a:ext uri="{9D8B030D-6E8A-4147-A177-3AD203B41FA5}">
                      <a16:colId xmlns:a16="http://schemas.microsoft.com/office/drawing/2014/main" val="2520493979"/>
                    </a:ext>
                  </a:extLst>
                </a:gridCol>
                <a:gridCol w="2709333">
                  <a:extLst>
                    <a:ext uri="{9D8B030D-6E8A-4147-A177-3AD203B41FA5}">
                      <a16:colId xmlns:a16="http://schemas.microsoft.com/office/drawing/2014/main" val="4205094560"/>
                    </a:ext>
                  </a:extLst>
                </a:gridCol>
              </a:tblGrid>
              <a:tr h="370840">
                <a:tc>
                  <a:txBody>
                    <a:bodyPr/>
                    <a:lstStyle/>
                    <a:p>
                      <a:r>
                        <a:rPr lang="de-DE" dirty="0"/>
                        <a:t>Feld Eingabe </a:t>
                      </a:r>
                      <a:r>
                        <a:rPr lang="de-DE" dirty="0" err="1"/>
                        <a:t>Hypothekbetrag</a:t>
                      </a:r>
                      <a:endParaRPr lang="de-DE" dirty="0"/>
                    </a:p>
                  </a:txBody>
                  <a:tcPr/>
                </a:tc>
                <a:tc>
                  <a:txBody>
                    <a:bodyPr/>
                    <a:lstStyle/>
                    <a:p>
                      <a:r>
                        <a:rPr lang="de-DE" dirty="0"/>
                        <a:t>Feld Eingabe Hypothekenmodell</a:t>
                      </a:r>
                    </a:p>
                    <a:p>
                      <a:r>
                        <a:rPr lang="de-DE" dirty="0"/>
                        <a:t>(Auswahl aus Dropdown: </a:t>
                      </a:r>
                    </a:p>
                    <a:p>
                      <a:pPr marL="285750" indent="-285750">
                        <a:buFontTx/>
                        <a:buChar char="-"/>
                      </a:pPr>
                      <a:r>
                        <a:rPr lang="de-DE" dirty="0" err="1"/>
                        <a:t>Saron</a:t>
                      </a:r>
                      <a:endParaRPr lang="de-DE" dirty="0"/>
                    </a:p>
                    <a:p>
                      <a:pPr marL="285750" indent="-285750">
                        <a:buFontTx/>
                        <a:buChar char="-"/>
                      </a:pPr>
                      <a:r>
                        <a:rPr lang="de-DE" dirty="0"/>
                        <a:t>Festzinshypothek</a:t>
                      </a:r>
                    </a:p>
                    <a:p>
                      <a:pPr marL="285750" indent="-285750">
                        <a:buFontTx/>
                        <a:buChar char="-"/>
                      </a:pPr>
                      <a:r>
                        <a:rPr lang="de-DE" dirty="0"/>
                        <a:t>Variable Hypothek</a:t>
                      </a:r>
                    </a:p>
                  </a:txBody>
                  <a:tcPr/>
                </a:tc>
                <a:tc>
                  <a:txBody>
                    <a:bodyPr/>
                    <a:lstStyle/>
                    <a:p>
                      <a:r>
                        <a:rPr lang="de-DE" dirty="0"/>
                        <a:t>Feld Eingabe Fälligkeitsdatum</a:t>
                      </a:r>
                    </a:p>
                  </a:txBody>
                  <a:tcPr/>
                </a:tc>
                <a:extLst>
                  <a:ext uri="{0D108BD9-81ED-4DB2-BD59-A6C34878D82A}">
                    <a16:rowId xmlns:a16="http://schemas.microsoft.com/office/drawing/2014/main" val="2521722175"/>
                  </a:ext>
                </a:extLst>
              </a:tr>
              <a:tr h="370840">
                <a:tc>
                  <a:txBody>
                    <a:bodyPr/>
                    <a:lstStyle/>
                    <a:p>
                      <a:r>
                        <a:rPr lang="de-DE" dirty="0"/>
                        <a:t>500‘000</a:t>
                      </a:r>
                    </a:p>
                  </a:txBody>
                  <a:tcPr/>
                </a:tc>
                <a:tc>
                  <a:txBody>
                    <a:bodyPr/>
                    <a:lstStyle/>
                    <a:p>
                      <a:r>
                        <a:rPr lang="de-DE" dirty="0" err="1"/>
                        <a:t>Festzinsyhpothek</a:t>
                      </a:r>
                      <a:endParaRPr lang="de-DE" dirty="0"/>
                    </a:p>
                  </a:txBody>
                  <a:tcPr/>
                </a:tc>
                <a:tc>
                  <a:txBody>
                    <a:bodyPr/>
                    <a:lstStyle/>
                    <a:p>
                      <a:r>
                        <a:rPr lang="de-DE" dirty="0"/>
                        <a:t>31.12.2026</a:t>
                      </a:r>
                    </a:p>
                  </a:txBody>
                  <a:tcPr/>
                </a:tc>
                <a:extLst>
                  <a:ext uri="{0D108BD9-81ED-4DB2-BD59-A6C34878D82A}">
                    <a16:rowId xmlns:a16="http://schemas.microsoft.com/office/drawing/2014/main" val="986382618"/>
                  </a:ext>
                </a:extLst>
              </a:tr>
              <a:tr h="370840">
                <a:tc>
                  <a:txBody>
                    <a:bodyPr/>
                    <a:lstStyle/>
                    <a:p>
                      <a:r>
                        <a:rPr lang="de-DE" dirty="0"/>
                        <a:t>300‘000</a:t>
                      </a:r>
                    </a:p>
                  </a:txBody>
                  <a:tcPr/>
                </a:tc>
                <a:tc>
                  <a:txBody>
                    <a:bodyPr/>
                    <a:lstStyle/>
                    <a:p>
                      <a:r>
                        <a:rPr lang="de-DE" dirty="0"/>
                        <a:t>Festzinshypothek</a:t>
                      </a:r>
                    </a:p>
                  </a:txBody>
                  <a:tcPr/>
                </a:tc>
                <a:tc>
                  <a:txBody>
                    <a:bodyPr/>
                    <a:lstStyle/>
                    <a:p>
                      <a:r>
                        <a:rPr lang="de-DE" dirty="0"/>
                        <a:t>31.12.2028</a:t>
                      </a:r>
                    </a:p>
                  </a:txBody>
                  <a:tcPr/>
                </a:tc>
                <a:extLst>
                  <a:ext uri="{0D108BD9-81ED-4DB2-BD59-A6C34878D82A}">
                    <a16:rowId xmlns:a16="http://schemas.microsoft.com/office/drawing/2014/main" val="1415062381"/>
                  </a:ext>
                </a:extLst>
              </a:tr>
            </a:tbl>
          </a:graphicData>
        </a:graphic>
      </p:graphicFrame>
      <p:sp>
        <p:nvSpPr>
          <p:cNvPr id="6" name="Textfeld 5">
            <a:extLst>
              <a:ext uri="{FF2B5EF4-FFF2-40B4-BE49-F238E27FC236}">
                <a16:creationId xmlns:a16="http://schemas.microsoft.com/office/drawing/2014/main" id="{D0773C87-1943-FE3D-4EEE-5979FF8A71C5}"/>
              </a:ext>
            </a:extLst>
          </p:cNvPr>
          <p:cNvSpPr txBox="1"/>
          <p:nvPr/>
        </p:nvSpPr>
        <p:spPr>
          <a:xfrm>
            <a:off x="1144650" y="3942225"/>
            <a:ext cx="662152" cy="369332"/>
          </a:xfrm>
          <a:prstGeom prst="rect">
            <a:avLst/>
          </a:prstGeom>
          <a:noFill/>
        </p:spPr>
        <p:txBody>
          <a:bodyPr wrap="square" rtlCol="0">
            <a:spAutoFit/>
          </a:bodyPr>
          <a:lstStyle/>
          <a:p>
            <a:r>
              <a:rPr lang="de-DE" dirty="0" err="1"/>
              <a:t>Bsp</a:t>
            </a:r>
            <a:r>
              <a:rPr lang="de-DE" dirty="0"/>
              <a:t>: </a:t>
            </a:r>
          </a:p>
        </p:txBody>
      </p:sp>
      <p:sp>
        <p:nvSpPr>
          <p:cNvPr id="8" name="Geschweifte Klammer rechts 7">
            <a:extLst>
              <a:ext uri="{FF2B5EF4-FFF2-40B4-BE49-F238E27FC236}">
                <a16:creationId xmlns:a16="http://schemas.microsoft.com/office/drawing/2014/main" id="{1FAC8F10-C6F6-9696-9CE9-474B5F71EF5A}"/>
              </a:ext>
            </a:extLst>
          </p:cNvPr>
          <p:cNvSpPr/>
          <p:nvPr/>
        </p:nvSpPr>
        <p:spPr>
          <a:xfrm>
            <a:off x="9435663" y="4062249"/>
            <a:ext cx="775034" cy="498617"/>
          </a:xfrm>
          <a:prstGeom prst="rightBrace">
            <a:avLst>
              <a:gd name="adj1" fmla="val 6305"/>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9" name="Textfeld 8">
            <a:extLst>
              <a:ext uri="{FF2B5EF4-FFF2-40B4-BE49-F238E27FC236}">
                <a16:creationId xmlns:a16="http://schemas.microsoft.com/office/drawing/2014/main" id="{5C9F5332-827B-E03E-37DA-B095112B335E}"/>
              </a:ext>
            </a:extLst>
          </p:cNvPr>
          <p:cNvSpPr txBox="1"/>
          <p:nvPr/>
        </p:nvSpPr>
        <p:spPr>
          <a:xfrm>
            <a:off x="10322317" y="4034695"/>
            <a:ext cx="1701516" cy="646331"/>
          </a:xfrm>
          <a:prstGeom prst="rect">
            <a:avLst/>
          </a:prstGeom>
          <a:noFill/>
        </p:spPr>
        <p:txBody>
          <a:bodyPr wrap="square" rtlCol="0">
            <a:spAutoFit/>
          </a:bodyPr>
          <a:lstStyle/>
          <a:p>
            <a:r>
              <a:rPr lang="de-DE" dirty="0"/>
              <a:t>Wenn unter 2 Jahre Differenz</a:t>
            </a:r>
          </a:p>
        </p:txBody>
      </p:sp>
      <p:cxnSp>
        <p:nvCxnSpPr>
          <p:cNvPr id="11" name="Gewinkelte Verbindung 10">
            <a:extLst>
              <a:ext uri="{FF2B5EF4-FFF2-40B4-BE49-F238E27FC236}">
                <a16:creationId xmlns:a16="http://schemas.microsoft.com/office/drawing/2014/main" id="{1EDDB02C-6804-E182-F0A9-F4262430CC18}"/>
              </a:ext>
            </a:extLst>
          </p:cNvPr>
          <p:cNvCxnSpPr>
            <a:stCxn id="9" idx="2"/>
          </p:cNvCxnSpPr>
          <p:nvPr/>
        </p:nvCxnSpPr>
        <p:spPr>
          <a:xfrm rot="5400000">
            <a:off x="8877829" y="3013294"/>
            <a:ext cx="627514" cy="39629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feld 11">
            <a:extLst>
              <a:ext uri="{FF2B5EF4-FFF2-40B4-BE49-F238E27FC236}">
                <a16:creationId xmlns:a16="http://schemas.microsoft.com/office/drawing/2014/main" id="{EF4AE7E4-7566-C9F0-7FDC-C937828089C0}"/>
              </a:ext>
            </a:extLst>
          </p:cNvPr>
          <p:cNvSpPr txBox="1"/>
          <p:nvPr/>
        </p:nvSpPr>
        <p:spPr>
          <a:xfrm>
            <a:off x="3384330" y="4801186"/>
            <a:ext cx="3825766" cy="923330"/>
          </a:xfrm>
          <a:prstGeom prst="rect">
            <a:avLst/>
          </a:prstGeom>
          <a:noFill/>
        </p:spPr>
        <p:txBody>
          <a:bodyPr wrap="square" rtlCol="0">
            <a:spAutoFit/>
          </a:bodyPr>
          <a:lstStyle/>
          <a:p>
            <a:r>
              <a:rPr lang="de-DE" dirty="0"/>
              <a:t>Hypothek ist ablösbar: Automatischer Absprung zu nächster Frage im Fragebogen</a:t>
            </a:r>
          </a:p>
        </p:txBody>
      </p:sp>
      <p:sp>
        <p:nvSpPr>
          <p:cNvPr id="13" name="Textfeld 12">
            <a:extLst>
              <a:ext uri="{FF2B5EF4-FFF2-40B4-BE49-F238E27FC236}">
                <a16:creationId xmlns:a16="http://schemas.microsoft.com/office/drawing/2014/main" id="{BFED3C5D-C3B0-6AA9-F152-AC653F4749BB}"/>
              </a:ext>
            </a:extLst>
          </p:cNvPr>
          <p:cNvSpPr txBox="1"/>
          <p:nvPr/>
        </p:nvSpPr>
        <p:spPr>
          <a:xfrm>
            <a:off x="317531" y="5839945"/>
            <a:ext cx="12053145" cy="1200329"/>
          </a:xfrm>
          <a:prstGeom prst="rect">
            <a:avLst/>
          </a:prstGeom>
          <a:noFill/>
        </p:spPr>
        <p:txBody>
          <a:bodyPr wrap="square" rtlCol="0">
            <a:spAutoFit/>
          </a:bodyPr>
          <a:lstStyle/>
          <a:p>
            <a:r>
              <a:rPr lang="de-DE" dirty="0"/>
              <a:t>Wenn Hypothek nicht ablösbar ist, soll folgendes stehen: </a:t>
            </a:r>
            <a:r>
              <a:rPr lang="de-DE" altLang="de-DE" dirty="0">
                <a:solidFill>
                  <a:srgbClr val="000000"/>
                </a:solidFill>
                <a:latin typeface="-webkit-standard"/>
              </a:rPr>
              <a:t>Leider kann Ihre Hypothek derzeit nicht abgelöst werden.</a:t>
            </a:r>
            <a:br>
              <a:rPr lang="de-DE" altLang="de-DE" dirty="0"/>
            </a:br>
            <a:r>
              <a:rPr lang="de-DE" altLang="de-DE" dirty="0">
                <a:solidFill>
                  <a:srgbClr val="000000"/>
                </a:solidFill>
                <a:latin typeface="-webkit-standard"/>
              </a:rPr>
              <a:t>Gerne stehen wir Ihnen bei der nächsten Verlängerung zur Verfügung. Wir zeigen Ihnen auf, wie Sie Ihre Hypothek optimal gestalten können, um künftig mehr Flexibilität zu gewinnen und Ihre Verhandlungsposition zu verbessern.</a:t>
            </a:r>
            <a:endParaRPr lang="de-DE" altLang="de-DE" dirty="0">
              <a:latin typeface="Arial" panose="020B0604020202020204" pitchFamily="34" charset="0"/>
            </a:endParaRPr>
          </a:p>
          <a:p>
            <a:r>
              <a:rPr lang="de-DE" dirty="0"/>
              <a:t> </a:t>
            </a:r>
          </a:p>
        </p:txBody>
      </p:sp>
    </p:spTree>
    <p:extLst>
      <p:ext uri="{BB962C8B-B14F-4D97-AF65-F5344CB8AC3E}">
        <p14:creationId xmlns:p14="http://schemas.microsoft.com/office/powerpoint/2010/main" val="207752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088E54FA-69FE-F466-662A-1B17B765FBF1}"/>
              </a:ext>
            </a:extLst>
          </p:cNvPr>
          <p:cNvSpPr txBox="1"/>
          <p:nvPr/>
        </p:nvSpPr>
        <p:spPr>
          <a:xfrm>
            <a:off x="3885144" y="1290907"/>
            <a:ext cx="5065987" cy="646331"/>
          </a:xfrm>
          <a:prstGeom prst="rect">
            <a:avLst/>
          </a:prstGeom>
          <a:noFill/>
        </p:spPr>
        <p:txBody>
          <a:bodyPr wrap="square" rtlCol="0">
            <a:spAutoFit/>
          </a:bodyPr>
          <a:lstStyle/>
          <a:p>
            <a:r>
              <a:rPr lang="de-DE" dirty="0"/>
              <a:t>In welchem Kanton befindet sich Ihre Wunschimmobilie? </a:t>
            </a:r>
          </a:p>
        </p:txBody>
      </p:sp>
      <p:sp>
        <p:nvSpPr>
          <p:cNvPr id="5" name="Textfeld 4">
            <a:extLst>
              <a:ext uri="{FF2B5EF4-FFF2-40B4-BE49-F238E27FC236}">
                <a16:creationId xmlns:a16="http://schemas.microsoft.com/office/drawing/2014/main" id="{40FB2B7C-A818-D3C3-1E73-723231251FF7}"/>
              </a:ext>
            </a:extLst>
          </p:cNvPr>
          <p:cNvSpPr txBox="1"/>
          <p:nvPr/>
        </p:nvSpPr>
        <p:spPr>
          <a:xfrm>
            <a:off x="3885144" y="2940323"/>
            <a:ext cx="4544153" cy="923330"/>
          </a:xfrm>
          <a:prstGeom prst="rect">
            <a:avLst/>
          </a:prstGeom>
          <a:noFill/>
        </p:spPr>
        <p:txBody>
          <a:bodyPr wrap="square" rtlCol="0">
            <a:spAutoFit/>
          </a:bodyPr>
          <a:lstStyle/>
          <a:p>
            <a:r>
              <a:rPr lang="de-DE" dirty="0"/>
              <a:t>Dropdown Auswahlmöglichkeit mit allen 26 Kantonen ausgeschrieben: </a:t>
            </a:r>
          </a:p>
          <a:p>
            <a:r>
              <a:rPr lang="de-DE" dirty="0"/>
              <a:t>Beispiel: Aargau</a:t>
            </a:r>
          </a:p>
        </p:txBody>
      </p:sp>
      <p:sp>
        <p:nvSpPr>
          <p:cNvPr id="6" name="Textfeld 5">
            <a:extLst>
              <a:ext uri="{FF2B5EF4-FFF2-40B4-BE49-F238E27FC236}">
                <a16:creationId xmlns:a16="http://schemas.microsoft.com/office/drawing/2014/main" id="{2E1424B0-6A50-4B3B-5322-4F7C1C38E224}"/>
              </a:ext>
            </a:extLst>
          </p:cNvPr>
          <p:cNvSpPr txBox="1"/>
          <p:nvPr/>
        </p:nvSpPr>
        <p:spPr>
          <a:xfrm>
            <a:off x="3885144" y="4494522"/>
            <a:ext cx="4985587" cy="923330"/>
          </a:xfrm>
          <a:prstGeom prst="rect">
            <a:avLst/>
          </a:prstGeom>
          <a:noFill/>
        </p:spPr>
        <p:txBody>
          <a:bodyPr wrap="square" rtlCol="0">
            <a:spAutoFit/>
          </a:bodyPr>
          <a:lstStyle/>
          <a:p>
            <a:r>
              <a:rPr lang="de-DE" dirty="0"/>
              <a:t>Sobald ein Kanton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38A2FAC9-F99F-15EA-B814-48064B735F9E}"/>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C6AF75A3-EC9B-11D9-7E2F-41E7057641E5}"/>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FE475167-DD8D-3019-6E67-B9E8A65B4711}"/>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145849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A1B09-0664-19CF-B0C9-308EB58252FB}"/>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DFB3CCC0-640D-79EA-34AC-AB4999722E19}"/>
              </a:ext>
            </a:extLst>
          </p:cNvPr>
          <p:cNvSpPr txBox="1"/>
          <p:nvPr/>
        </p:nvSpPr>
        <p:spPr>
          <a:xfrm>
            <a:off x="3864124" y="1290907"/>
            <a:ext cx="5065987" cy="646331"/>
          </a:xfrm>
          <a:prstGeom prst="rect">
            <a:avLst/>
          </a:prstGeom>
          <a:noFill/>
        </p:spPr>
        <p:txBody>
          <a:bodyPr wrap="square" rtlCol="0">
            <a:spAutoFit/>
          </a:bodyPr>
          <a:lstStyle/>
          <a:p>
            <a:r>
              <a:rPr lang="de-DE" dirty="0"/>
              <a:t>Welche Art von Objekt trifft auf Ihre Wunschliegenschaft zu?</a:t>
            </a:r>
          </a:p>
        </p:txBody>
      </p:sp>
      <p:sp>
        <p:nvSpPr>
          <p:cNvPr id="5" name="Textfeld 4">
            <a:extLst>
              <a:ext uri="{FF2B5EF4-FFF2-40B4-BE49-F238E27FC236}">
                <a16:creationId xmlns:a16="http://schemas.microsoft.com/office/drawing/2014/main" id="{CD81AA71-271F-59EA-148A-DDD1C5356155}"/>
              </a:ext>
            </a:extLst>
          </p:cNvPr>
          <p:cNvSpPr txBox="1"/>
          <p:nvPr/>
        </p:nvSpPr>
        <p:spPr>
          <a:xfrm>
            <a:off x="3864124" y="2967335"/>
            <a:ext cx="7322774" cy="1200329"/>
          </a:xfrm>
          <a:prstGeom prst="rect">
            <a:avLst/>
          </a:prstGeom>
          <a:noFill/>
        </p:spPr>
        <p:txBody>
          <a:bodyPr wrap="none" rtlCol="0">
            <a:spAutoFit/>
          </a:bodyPr>
          <a:lstStyle/>
          <a:p>
            <a:r>
              <a:rPr lang="de-DE" dirty="0"/>
              <a:t>Antwortmöglichkeiten:</a:t>
            </a:r>
          </a:p>
          <a:p>
            <a:r>
              <a:rPr lang="de-DE" dirty="0"/>
              <a:t>-    Einfamilienhaus (</a:t>
            </a:r>
            <a:r>
              <a:rPr lang="de-CH" dirty="0"/>
              <a:t>Reihen, Doppel oder freistehendes Einfamilienhaus)</a:t>
            </a:r>
            <a:endParaRPr lang="de-DE" dirty="0"/>
          </a:p>
          <a:p>
            <a:pPr marL="285750" indent="-285750">
              <a:buFontTx/>
              <a:buChar char="-"/>
            </a:pPr>
            <a:r>
              <a:rPr lang="de-DE" dirty="0"/>
              <a:t>Eigentumswohnung (STWE)</a:t>
            </a:r>
          </a:p>
          <a:p>
            <a:pPr marL="285750" indent="-285750">
              <a:buFontTx/>
              <a:buChar char="-"/>
            </a:pPr>
            <a:r>
              <a:rPr lang="de-DE" dirty="0"/>
              <a:t>Zweifamilienhaus</a:t>
            </a:r>
          </a:p>
        </p:txBody>
      </p:sp>
      <p:sp>
        <p:nvSpPr>
          <p:cNvPr id="6" name="Textfeld 5">
            <a:extLst>
              <a:ext uri="{FF2B5EF4-FFF2-40B4-BE49-F238E27FC236}">
                <a16:creationId xmlns:a16="http://schemas.microsoft.com/office/drawing/2014/main" id="{3201264A-B7DB-1267-821C-E6337F174681}"/>
              </a:ext>
            </a:extLst>
          </p:cNvPr>
          <p:cNvSpPr txBox="1"/>
          <p:nvPr/>
        </p:nvSpPr>
        <p:spPr>
          <a:xfrm>
            <a:off x="3864125" y="4494521"/>
            <a:ext cx="5342938" cy="923330"/>
          </a:xfrm>
          <a:prstGeom prst="rect">
            <a:avLst/>
          </a:prstGeom>
          <a:noFill/>
        </p:spPr>
        <p:txBody>
          <a:bodyPr wrap="square" rtlCol="0">
            <a:spAutoFit/>
          </a:bodyPr>
          <a:lstStyle/>
          <a:p>
            <a:r>
              <a:rPr lang="de-DE" dirty="0"/>
              <a:t>Sobald die Objektart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6EA3595F-5F7C-07B0-2A93-4294B1BB5CDA}"/>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0E0EE6A8-5488-E2E9-21D6-48401152110F}"/>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FD3099EF-75D6-2651-9AB0-8F2F1221AA23}"/>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589574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2316-7B13-28B8-35E0-E8A91282851C}"/>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7C09B323-4CDE-E86E-1F46-7A3F5346565A}"/>
              </a:ext>
            </a:extLst>
          </p:cNvPr>
          <p:cNvSpPr txBox="1"/>
          <p:nvPr/>
        </p:nvSpPr>
        <p:spPr>
          <a:xfrm>
            <a:off x="3864124" y="1290907"/>
            <a:ext cx="5065987" cy="646331"/>
          </a:xfrm>
          <a:prstGeom prst="rect">
            <a:avLst/>
          </a:prstGeom>
          <a:noFill/>
        </p:spPr>
        <p:txBody>
          <a:bodyPr wrap="square" rtlCol="0">
            <a:spAutoFit/>
          </a:bodyPr>
          <a:lstStyle/>
          <a:p>
            <a:r>
              <a:rPr lang="de-DE" dirty="0"/>
              <a:t>Ist Ihre Liegenschaft zu 100% selbstbewohnt oder ist ein Teil vermietet?</a:t>
            </a:r>
          </a:p>
        </p:txBody>
      </p:sp>
      <p:sp>
        <p:nvSpPr>
          <p:cNvPr id="5" name="Textfeld 4">
            <a:extLst>
              <a:ext uri="{FF2B5EF4-FFF2-40B4-BE49-F238E27FC236}">
                <a16:creationId xmlns:a16="http://schemas.microsoft.com/office/drawing/2014/main" id="{FCEF9EDD-4B57-D658-ED25-DA994690F655}"/>
              </a:ext>
            </a:extLst>
          </p:cNvPr>
          <p:cNvSpPr txBox="1"/>
          <p:nvPr/>
        </p:nvSpPr>
        <p:spPr>
          <a:xfrm>
            <a:off x="3864124" y="2967335"/>
            <a:ext cx="2561279" cy="923330"/>
          </a:xfrm>
          <a:prstGeom prst="rect">
            <a:avLst/>
          </a:prstGeom>
          <a:noFill/>
        </p:spPr>
        <p:txBody>
          <a:bodyPr wrap="none" rtlCol="0">
            <a:spAutoFit/>
          </a:bodyPr>
          <a:lstStyle/>
          <a:p>
            <a:r>
              <a:rPr lang="de-DE" dirty="0"/>
              <a:t>Antwortmöglichkeiten:</a:t>
            </a:r>
          </a:p>
          <a:p>
            <a:pPr marL="285750" indent="-285750">
              <a:buFontTx/>
              <a:buChar char="-"/>
            </a:pPr>
            <a:r>
              <a:rPr lang="de-CH" dirty="0"/>
              <a:t>100% selbstbewohnt</a:t>
            </a:r>
          </a:p>
          <a:p>
            <a:pPr marL="285750" indent="-285750">
              <a:buFontTx/>
              <a:buChar char="-"/>
            </a:pPr>
            <a:r>
              <a:rPr lang="de-CH" dirty="0"/>
              <a:t>Ein Teil ist vermietet</a:t>
            </a:r>
            <a:endParaRPr lang="de-DE" dirty="0"/>
          </a:p>
        </p:txBody>
      </p:sp>
      <p:sp>
        <p:nvSpPr>
          <p:cNvPr id="6" name="Textfeld 5">
            <a:extLst>
              <a:ext uri="{FF2B5EF4-FFF2-40B4-BE49-F238E27FC236}">
                <a16:creationId xmlns:a16="http://schemas.microsoft.com/office/drawing/2014/main" id="{C599A21B-BEEE-0471-6E81-F22638D91189}"/>
              </a:ext>
            </a:extLst>
          </p:cNvPr>
          <p:cNvSpPr txBox="1"/>
          <p:nvPr/>
        </p:nvSpPr>
        <p:spPr>
          <a:xfrm>
            <a:off x="3864125" y="4494521"/>
            <a:ext cx="5342938" cy="923330"/>
          </a:xfrm>
          <a:prstGeom prst="rect">
            <a:avLst/>
          </a:prstGeom>
          <a:noFill/>
        </p:spPr>
        <p:txBody>
          <a:bodyPr wrap="square" rtlCol="0">
            <a:spAutoFit/>
          </a:bodyPr>
          <a:lstStyle/>
          <a:p>
            <a:r>
              <a:rPr lang="de-DE" dirty="0"/>
              <a:t>Sobald die Bewohnungsart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F8B22307-1AC0-B18C-6629-CA765EBBDD2C}"/>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EDB10711-2D6F-6220-298D-FF836832FFC9}"/>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C05F4277-9229-729D-F4E5-3A05B1F7C51F}"/>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357704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078F0-C9B1-90F9-9836-28118ED1F625}"/>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ED9BA746-5F52-1C2D-CD29-CB487E2A7221}"/>
              </a:ext>
            </a:extLst>
          </p:cNvPr>
          <p:cNvSpPr txBox="1"/>
          <p:nvPr/>
        </p:nvSpPr>
        <p:spPr>
          <a:xfrm>
            <a:off x="3864124" y="1290907"/>
            <a:ext cx="5065987" cy="369332"/>
          </a:xfrm>
          <a:prstGeom prst="rect">
            <a:avLst/>
          </a:prstGeom>
          <a:noFill/>
        </p:spPr>
        <p:txBody>
          <a:bodyPr wrap="square" rtlCol="0">
            <a:spAutoFit/>
          </a:bodyPr>
          <a:lstStyle/>
          <a:p>
            <a:r>
              <a:rPr lang="de-DE" dirty="0"/>
              <a:t>Befindet sich Ihre Liegenschaft im Baurecht</a:t>
            </a:r>
          </a:p>
        </p:txBody>
      </p:sp>
      <p:sp>
        <p:nvSpPr>
          <p:cNvPr id="5" name="Textfeld 4">
            <a:extLst>
              <a:ext uri="{FF2B5EF4-FFF2-40B4-BE49-F238E27FC236}">
                <a16:creationId xmlns:a16="http://schemas.microsoft.com/office/drawing/2014/main" id="{175A734A-5517-2930-CF27-EB3C1C1C886B}"/>
              </a:ext>
            </a:extLst>
          </p:cNvPr>
          <p:cNvSpPr txBox="1"/>
          <p:nvPr/>
        </p:nvSpPr>
        <p:spPr>
          <a:xfrm>
            <a:off x="3864124" y="2967335"/>
            <a:ext cx="2435988" cy="923330"/>
          </a:xfrm>
          <a:prstGeom prst="rect">
            <a:avLst/>
          </a:prstGeom>
          <a:noFill/>
        </p:spPr>
        <p:txBody>
          <a:bodyPr wrap="none" rtlCol="0">
            <a:spAutoFit/>
          </a:bodyPr>
          <a:lstStyle/>
          <a:p>
            <a:r>
              <a:rPr lang="de-DE" dirty="0"/>
              <a:t>Antwortmöglichkeiten:</a:t>
            </a:r>
          </a:p>
          <a:p>
            <a:r>
              <a:rPr lang="de-DE" dirty="0"/>
              <a:t>-    </a:t>
            </a:r>
            <a:r>
              <a:rPr lang="de-CH" dirty="0"/>
              <a:t>Ja</a:t>
            </a:r>
          </a:p>
          <a:p>
            <a:pPr marL="285750" indent="-285750">
              <a:buFontTx/>
              <a:buChar char="-"/>
            </a:pPr>
            <a:r>
              <a:rPr lang="de-CH" dirty="0"/>
              <a:t>Nein</a:t>
            </a:r>
            <a:endParaRPr lang="de-DE" dirty="0"/>
          </a:p>
        </p:txBody>
      </p:sp>
      <p:sp>
        <p:nvSpPr>
          <p:cNvPr id="6" name="Textfeld 5">
            <a:extLst>
              <a:ext uri="{FF2B5EF4-FFF2-40B4-BE49-F238E27FC236}">
                <a16:creationId xmlns:a16="http://schemas.microsoft.com/office/drawing/2014/main" id="{203B9639-E854-9884-9806-5B7795AD1A81}"/>
              </a:ext>
            </a:extLst>
          </p:cNvPr>
          <p:cNvSpPr txBox="1"/>
          <p:nvPr/>
        </p:nvSpPr>
        <p:spPr>
          <a:xfrm>
            <a:off x="3864125" y="4494521"/>
            <a:ext cx="5342938" cy="923330"/>
          </a:xfrm>
          <a:prstGeom prst="rect">
            <a:avLst/>
          </a:prstGeom>
          <a:noFill/>
        </p:spPr>
        <p:txBody>
          <a:bodyPr wrap="square" rtlCol="0">
            <a:spAutoFit/>
          </a:bodyPr>
          <a:lstStyle/>
          <a:p>
            <a:r>
              <a:rPr lang="de-DE" dirty="0"/>
              <a:t>Sobald eine Antwort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DBBD52EC-8782-8D19-6B1C-2E6161085BE0}"/>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EF34BBD8-9F02-0370-8A88-2F9BF4FE3021}"/>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59AF3395-8FE7-FC57-6A6C-9766377C5245}"/>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145797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55AA-864E-8CA7-C71B-F9875EB5A3C1}"/>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F5E37B75-EF28-FF0E-ACE5-7B6C30EE22A5}"/>
              </a:ext>
            </a:extLst>
          </p:cNvPr>
          <p:cNvSpPr txBox="1"/>
          <p:nvPr/>
        </p:nvSpPr>
        <p:spPr>
          <a:xfrm>
            <a:off x="3885144" y="1429407"/>
            <a:ext cx="5065987" cy="369332"/>
          </a:xfrm>
          <a:prstGeom prst="rect">
            <a:avLst/>
          </a:prstGeom>
          <a:noFill/>
        </p:spPr>
        <p:txBody>
          <a:bodyPr wrap="square" rtlCol="0">
            <a:spAutoFit/>
          </a:bodyPr>
          <a:lstStyle/>
          <a:p>
            <a:r>
              <a:rPr lang="de-DE" dirty="0"/>
              <a:t>Welche Tätigkeit trifft auf Sie zu?</a:t>
            </a:r>
          </a:p>
        </p:txBody>
      </p:sp>
      <p:sp>
        <p:nvSpPr>
          <p:cNvPr id="5" name="Textfeld 4">
            <a:extLst>
              <a:ext uri="{FF2B5EF4-FFF2-40B4-BE49-F238E27FC236}">
                <a16:creationId xmlns:a16="http://schemas.microsoft.com/office/drawing/2014/main" id="{15C435D0-8282-22D4-DB78-A5CBFA47664A}"/>
              </a:ext>
            </a:extLst>
          </p:cNvPr>
          <p:cNvSpPr txBox="1"/>
          <p:nvPr/>
        </p:nvSpPr>
        <p:spPr>
          <a:xfrm>
            <a:off x="3885144" y="2801824"/>
            <a:ext cx="2435988" cy="1200329"/>
          </a:xfrm>
          <a:prstGeom prst="rect">
            <a:avLst/>
          </a:prstGeom>
          <a:noFill/>
        </p:spPr>
        <p:txBody>
          <a:bodyPr wrap="none" rtlCol="0">
            <a:spAutoFit/>
          </a:bodyPr>
          <a:lstStyle/>
          <a:p>
            <a:r>
              <a:rPr lang="de-DE" dirty="0"/>
              <a:t>Antwortmöglichkeiten:</a:t>
            </a:r>
          </a:p>
          <a:p>
            <a:r>
              <a:rPr lang="de-DE" dirty="0"/>
              <a:t>-    Angestellt</a:t>
            </a:r>
          </a:p>
          <a:p>
            <a:pPr marL="285750" indent="-285750">
              <a:buFontTx/>
              <a:buChar char="-"/>
            </a:pPr>
            <a:r>
              <a:rPr lang="de-DE" dirty="0"/>
              <a:t>Selbständig </a:t>
            </a:r>
          </a:p>
          <a:p>
            <a:pPr marL="285750" indent="-285750">
              <a:buFontTx/>
              <a:buChar char="-"/>
            </a:pPr>
            <a:r>
              <a:rPr lang="de-DE" dirty="0"/>
              <a:t>Pensioniert</a:t>
            </a:r>
          </a:p>
        </p:txBody>
      </p:sp>
      <p:sp>
        <p:nvSpPr>
          <p:cNvPr id="6" name="Textfeld 5">
            <a:extLst>
              <a:ext uri="{FF2B5EF4-FFF2-40B4-BE49-F238E27FC236}">
                <a16:creationId xmlns:a16="http://schemas.microsoft.com/office/drawing/2014/main" id="{C4DBA71E-2C72-AD55-9ED8-4E81BF142667}"/>
              </a:ext>
            </a:extLst>
          </p:cNvPr>
          <p:cNvSpPr txBox="1"/>
          <p:nvPr/>
        </p:nvSpPr>
        <p:spPr>
          <a:xfrm>
            <a:off x="3885144" y="4494522"/>
            <a:ext cx="4848953" cy="923330"/>
          </a:xfrm>
          <a:prstGeom prst="rect">
            <a:avLst/>
          </a:prstGeom>
          <a:noFill/>
        </p:spPr>
        <p:txBody>
          <a:bodyPr wrap="square" rtlCol="0">
            <a:spAutoFit/>
          </a:bodyPr>
          <a:lstStyle/>
          <a:p>
            <a:r>
              <a:rPr lang="de-DE" dirty="0"/>
              <a:t>Sobald die Tätigkeit ausgewählt wurde, soll automatisch die nächste Frage im Fragebogen erscheinen</a:t>
            </a:r>
          </a:p>
        </p:txBody>
      </p:sp>
      <p:sp>
        <p:nvSpPr>
          <p:cNvPr id="7" name="Textfeld 6">
            <a:extLst>
              <a:ext uri="{FF2B5EF4-FFF2-40B4-BE49-F238E27FC236}">
                <a16:creationId xmlns:a16="http://schemas.microsoft.com/office/drawing/2014/main" id="{8C24CC43-6F83-7E66-4A87-C929A1378D66}"/>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CB5EDCBF-2003-A57A-C27F-00AE0B0FC2A5}"/>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2227FAE2-7E7E-78B8-9A4B-4D5E5CF685F0}"/>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2175507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B8737-C223-64F3-742A-17135AFFA5FE}"/>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34BA51D6-5A15-5F97-E7CE-B572EC2C9FF7}"/>
              </a:ext>
            </a:extLst>
          </p:cNvPr>
          <p:cNvSpPr txBox="1"/>
          <p:nvPr/>
        </p:nvSpPr>
        <p:spPr>
          <a:xfrm>
            <a:off x="3885144" y="1429407"/>
            <a:ext cx="5065987" cy="923330"/>
          </a:xfrm>
          <a:prstGeom prst="rect">
            <a:avLst/>
          </a:prstGeom>
          <a:noFill/>
        </p:spPr>
        <p:txBody>
          <a:bodyPr wrap="square" rtlCol="0">
            <a:spAutoFit/>
          </a:bodyPr>
          <a:lstStyle/>
          <a:p>
            <a:r>
              <a:rPr lang="de-CH" dirty="0"/>
              <a:t>Wissen Sie bereits, in welchem Model und mit welcher Laufzeit Sie Ihre Hypothek verlängern möchten?</a:t>
            </a:r>
          </a:p>
        </p:txBody>
      </p:sp>
      <p:sp>
        <p:nvSpPr>
          <p:cNvPr id="5" name="Textfeld 4">
            <a:extLst>
              <a:ext uri="{FF2B5EF4-FFF2-40B4-BE49-F238E27FC236}">
                <a16:creationId xmlns:a16="http://schemas.microsoft.com/office/drawing/2014/main" id="{BF0E22FA-426B-D8AB-CD8B-3F828789A50A}"/>
              </a:ext>
            </a:extLst>
          </p:cNvPr>
          <p:cNvSpPr txBox="1"/>
          <p:nvPr/>
        </p:nvSpPr>
        <p:spPr>
          <a:xfrm>
            <a:off x="3885144" y="2801824"/>
            <a:ext cx="2435988" cy="923330"/>
          </a:xfrm>
          <a:prstGeom prst="rect">
            <a:avLst/>
          </a:prstGeom>
          <a:noFill/>
        </p:spPr>
        <p:txBody>
          <a:bodyPr wrap="none" rtlCol="0">
            <a:spAutoFit/>
          </a:bodyPr>
          <a:lstStyle/>
          <a:p>
            <a:r>
              <a:rPr lang="de-DE" dirty="0"/>
              <a:t>Antwortmöglichkeiten:</a:t>
            </a:r>
          </a:p>
          <a:p>
            <a:pPr marL="285750" indent="-285750">
              <a:buFontTx/>
              <a:buChar char="-"/>
            </a:pPr>
            <a:r>
              <a:rPr lang="de-DE" dirty="0"/>
              <a:t>Ja</a:t>
            </a:r>
          </a:p>
          <a:p>
            <a:pPr marL="285750" indent="-285750">
              <a:buFontTx/>
              <a:buChar char="-"/>
            </a:pPr>
            <a:r>
              <a:rPr lang="de-DE" dirty="0"/>
              <a:t>Nein</a:t>
            </a:r>
          </a:p>
        </p:txBody>
      </p:sp>
      <p:sp>
        <p:nvSpPr>
          <p:cNvPr id="6" name="Textfeld 5">
            <a:extLst>
              <a:ext uri="{FF2B5EF4-FFF2-40B4-BE49-F238E27FC236}">
                <a16:creationId xmlns:a16="http://schemas.microsoft.com/office/drawing/2014/main" id="{98FEA8D8-D591-5BE2-BF74-0DA792B780BC}"/>
              </a:ext>
            </a:extLst>
          </p:cNvPr>
          <p:cNvSpPr txBox="1"/>
          <p:nvPr/>
        </p:nvSpPr>
        <p:spPr>
          <a:xfrm>
            <a:off x="3885144" y="4494522"/>
            <a:ext cx="4848953" cy="923330"/>
          </a:xfrm>
          <a:prstGeom prst="rect">
            <a:avLst/>
          </a:prstGeom>
          <a:noFill/>
        </p:spPr>
        <p:txBody>
          <a:bodyPr wrap="square" rtlCol="0">
            <a:spAutoFit/>
          </a:bodyPr>
          <a:lstStyle/>
          <a:p>
            <a:r>
              <a:rPr lang="de-DE" dirty="0"/>
              <a:t>Bei Ja: erscheint die nächste Frage im Fragebogen</a:t>
            </a:r>
          </a:p>
          <a:p>
            <a:r>
              <a:rPr lang="de-DE" dirty="0"/>
              <a:t>Bei Nein: erscheint direkt </a:t>
            </a:r>
          </a:p>
        </p:txBody>
      </p:sp>
      <p:sp>
        <p:nvSpPr>
          <p:cNvPr id="7" name="Textfeld 6">
            <a:extLst>
              <a:ext uri="{FF2B5EF4-FFF2-40B4-BE49-F238E27FC236}">
                <a16:creationId xmlns:a16="http://schemas.microsoft.com/office/drawing/2014/main" id="{2B850F20-FEAE-C13E-72AF-3837CF328CE8}"/>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F0754D1F-7425-D5C1-3815-3399C757CBAA}"/>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0D794A32-4504-292C-9BC9-C2B4BBB340FD}"/>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60208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D68B8-9DE7-162D-CD60-20DDC3FFC8B5}"/>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80C97348-1B22-F7B3-F1C5-6D00DCBA2810}"/>
              </a:ext>
            </a:extLst>
          </p:cNvPr>
          <p:cNvSpPr txBox="1"/>
          <p:nvPr/>
        </p:nvSpPr>
        <p:spPr>
          <a:xfrm>
            <a:off x="3885144" y="1429407"/>
            <a:ext cx="5065987" cy="923330"/>
          </a:xfrm>
          <a:prstGeom prst="rect">
            <a:avLst/>
          </a:prstGeom>
          <a:noFill/>
        </p:spPr>
        <p:txBody>
          <a:bodyPr wrap="square" rtlCol="0">
            <a:spAutoFit/>
          </a:bodyPr>
          <a:lstStyle/>
          <a:p>
            <a:r>
              <a:rPr lang="de-CH" dirty="0"/>
              <a:t>Wissen Sie bereits, in welchem Model und mit welcher Laufzeit Sie Ihre Hypothek verlängern möchten?</a:t>
            </a:r>
          </a:p>
        </p:txBody>
      </p:sp>
      <p:sp>
        <p:nvSpPr>
          <p:cNvPr id="5" name="Textfeld 4">
            <a:extLst>
              <a:ext uri="{FF2B5EF4-FFF2-40B4-BE49-F238E27FC236}">
                <a16:creationId xmlns:a16="http://schemas.microsoft.com/office/drawing/2014/main" id="{EF4FECA5-5541-7FCD-BB24-83B1D27608C8}"/>
              </a:ext>
            </a:extLst>
          </p:cNvPr>
          <p:cNvSpPr txBox="1"/>
          <p:nvPr/>
        </p:nvSpPr>
        <p:spPr>
          <a:xfrm>
            <a:off x="3885144" y="2801824"/>
            <a:ext cx="2435988" cy="923330"/>
          </a:xfrm>
          <a:prstGeom prst="rect">
            <a:avLst/>
          </a:prstGeom>
          <a:noFill/>
        </p:spPr>
        <p:txBody>
          <a:bodyPr wrap="none" rtlCol="0">
            <a:spAutoFit/>
          </a:bodyPr>
          <a:lstStyle/>
          <a:p>
            <a:r>
              <a:rPr lang="de-DE" dirty="0"/>
              <a:t>Antwortmöglichkeiten:</a:t>
            </a:r>
          </a:p>
          <a:p>
            <a:pPr marL="285750" indent="-285750">
              <a:buFontTx/>
              <a:buChar char="-"/>
            </a:pPr>
            <a:r>
              <a:rPr lang="de-DE" dirty="0"/>
              <a:t>Ja</a:t>
            </a:r>
          </a:p>
          <a:p>
            <a:pPr marL="285750" indent="-285750">
              <a:buFontTx/>
              <a:buChar char="-"/>
            </a:pPr>
            <a:r>
              <a:rPr lang="de-DE" dirty="0"/>
              <a:t>Nein</a:t>
            </a:r>
          </a:p>
        </p:txBody>
      </p:sp>
      <p:sp>
        <p:nvSpPr>
          <p:cNvPr id="6" name="Textfeld 5">
            <a:extLst>
              <a:ext uri="{FF2B5EF4-FFF2-40B4-BE49-F238E27FC236}">
                <a16:creationId xmlns:a16="http://schemas.microsoft.com/office/drawing/2014/main" id="{DA83637B-674B-1F40-22C7-6B85F4179FF0}"/>
              </a:ext>
            </a:extLst>
          </p:cNvPr>
          <p:cNvSpPr txBox="1"/>
          <p:nvPr/>
        </p:nvSpPr>
        <p:spPr>
          <a:xfrm>
            <a:off x="3885144" y="4494522"/>
            <a:ext cx="4848953" cy="923330"/>
          </a:xfrm>
          <a:prstGeom prst="rect">
            <a:avLst/>
          </a:prstGeom>
          <a:noFill/>
        </p:spPr>
        <p:txBody>
          <a:bodyPr wrap="square" rtlCol="0">
            <a:spAutoFit/>
          </a:bodyPr>
          <a:lstStyle/>
          <a:p>
            <a:r>
              <a:rPr lang="de-DE" dirty="0"/>
              <a:t>Bei Ja: erscheint die nächste Frage im Fragebogen</a:t>
            </a:r>
          </a:p>
          <a:p>
            <a:r>
              <a:rPr lang="de-DE" dirty="0"/>
              <a:t>Bei Nein: erscheint direkt </a:t>
            </a:r>
          </a:p>
        </p:txBody>
      </p:sp>
      <p:sp>
        <p:nvSpPr>
          <p:cNvPr id="7" name="Textfeld 6">
            <a:extLst>
              <a:ext uri="{FF2B5EF4-FFF2-40B4-BE49-F238E27FC236}">
                <a16:creationId xmlns:a16="http://schemas.microsoft.com/office/drawing/2014/main" id="{65340F0C-72E1-95DB-D0D4-E8031066D825}"/>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BDC37DD4-338C-435A-BE95-0A9690CD1714}"/>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B71DA7AC-08B0-B27B-7E94-4E1E4843CCCE}"/>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1719786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71C2-7898-9645-1F4F-21E3ECCCF892}"/>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402022DB-96C0-F6E3-EB71-D40B0E9E55B3}"/>
              </a:ext>
            </a:extLst>
          </p:cNvPr>
          <p:cNvSpPr txBox="1"/>
          <p:nvPr/>
        </p:nvSpPr>
        <p:spPr>
          <a:xfrm>
            <a:off x="3885144" y="1429407"/>
            <a:ext cx="5065987" cy="646331"/>
          </a:xfrm>
          <a:prstGeom prst="rect">
            <a:avLst/>
          </a:prstGeom>
          <a:noFill/>
        </p:spPr>
        <p:txBody>
          <a:bodyPr wrap="square" rtlCol="0">
            <a:spAutoFit/>
          </a:bodyPr>
          <a:lstStyle/>
          <a:p>
            <a:r>
              <a:rPr lang="de-CH" dirty="0"/>
              <a:t>In welchem Modell möchten Sie Ihre Hypothek verlängern?</a:t>
            </a:r>
          </a:p>
        </p:txBody>
      </p:sp>
      <p:sp>
        <p:nvSpPr>
          <p:cNvPr id="5" name="Textfeld 4">
            <a:extLst>
              <a:ext uri="{FF2B5EF4-FFF2-40B4-BE49-F238E27FC236}">
                <a16:creationId xmlns:a16="http://schemas.microsoft.com/office/drawing/2014/main" id="{8FB3C4D9-5F2C-55EA-9C56-CA17E540AB40}"/>
              </a:ext>
            </a:extLst>
          </p:cNvPr>
          <p:cNvSpPr txBox="1"/>
          <p:nvPr/>
        </p:nvSpPr>
        <p:spPr>
          <a:xfrm>
            <a:off x="3885144" y="2801824"/>
            <a:ext cx="4136069" cy="1200329"/>
          </a:xfrm>
          <a:prstGeom prst="rect">
            <a:avLst/>
          </a:prstGeom>
          <a:noFill/>
        </p:spPr>
        <p:txBody>
          <a:bodyPr wrap="none" rtlCol="0">
            <a:spAutoFit/>
          </a:bodyPr>
          <a:lstStyle/>
          <a:p>
            <a:r>
              <a:rPr lang="de-DE" dirty="0"/>
              <a:t>Antwortmöglichkeiten: </a:t>
            </a:r>
          </a:p>
          <a:p>
            <a:pPr marL="285750" indent="-285750">
              <a:buFontTx/>
              <a:buChar char="-"/>
            </a:pPr>
            <a:r>
              <a:rPr lang="de-DE" dirty="0"/>
              <a:t>Festzinshypothek</a:t>
            </a:r>
          </a:p>
          <a:p>
            <a:pPr marL="285750" indent="-285750">
              <a:buFontTx/>
              <a:buChar char="-"/>
            </a:pPr>
            <a:r>
              <a:rPr lang="de-DE" dirty="0" err="1"/>
              <a:t>Saronhypothek</a:t>
            </a:r>
            <a:r>
              <a:rPr lang="de-DE" dirty="0"/>
              <a:t> mit Rahmenlaufzeit</a:t>
            </a:r>
          </a:p>
          <a:p>
            <a:pPr marL="285750" indent="-285750">
              <a:buFontTx/>
              <a:buChar char="-"/>
            </a:pPr>
            <a:r>
              <a:rPr lang="de-DE" dirty="0" err="1"/>
              <a:t>Saronhypothek</a:t>
            </a:r>
            <a:r>
              <a:rPr lang="de-DE" dirty="0"/>
              <a:t> ohne Rahmenlaufzeit</a:t>
            </a:r>
          </a:p>
        </p:txBody>
      </p:sp>
      <p:sp>
        <p:nvSpPr>
          <p:cNvPr id="6" name="Textfeld 5">
            <a:extLst>
              <a:ext uri="{FF2B5EF4-FFF2-40B4-BE49-F238E27FC236}">
                <a16:creationId xmlns:a16="http://schemas.microsoft.com/office/drawing/2014/main" id="{D25E4CB9-8F81-8734-D1A2-D91B917E0C80}"/>
              </a:ext>
            </a:extLst>
          </p:cNvPr>
          <p:cNvSpPr txBox="1"/>
          <p:nvPr/>
        </p:nvSpPr>
        <p:spPr>
          <a:xfrm>
            <a:off x="3885144" y="4494522"/>
            <a:ext cx="7833890" cy="923330"/>
          </a:xfrm>
          <a:prstGeom prst="rect">
            <a:avLst/>
          </a:prstGeom>
          <a:noFill/>
        </p:spPr>
        <p:txBody>
          <a:bodyPr wrap="square" rtlCol="0">
            <a:spAutoFit/>
          </a:bodyPr>
          <a:lstStyle/>
          <a:p>
            <a:r>
              <a:rPr lang="de-DE" dirty="0"/>
              <a:t>Bei Festzinshypothek: Erscheint Frage von Seite 11</a:t>
            </a:r>
          </a:p>
          <a:p>
            <a:r>
              <a:rPr lang="de-DE" dirty="0"/>
              <a:t>Bei </a:t>
            </a:r>
            <a:r>
              <a:rPr lang="de-DE" dirty="0" err="1"/>
              <a:t>Saronhypothek</a:t>
            </a:r>
            <a:r>
              <a:rPr lang="de-DE" dirty="0"/>
              <a:t> mit Rahmenlaufzeit erscheint Frage von Seite 12</a:t>
            </a:r>
          </a:p>
          <a:p>
            <a:r>
              <a:rPr lang="de-DE" dirty="0"/>
              <a:t>Bei </a:t>
            </a:r>
            <a:r>
              <a:rPr lang="de-DE" dirty="0" err="1"/>
              <a:t>Saronhypothek</a:t>
            </a:r>
            <a:r>
              <a:rPr lang="de-DE" dirty="0"/>
              <a:t> ohne Rahmenlaufzeit erscheint Frage von Seite 13</a:t>
            </a:r>
          </a:p>
        </p:txBody>
      </p:sp>
      <p:sp>
        <p:nvSpPr>
          <p:cNvPr id="7" name="Textfeld 6">
            <a:extLst>
              <a:ext uri="{FF2B5EF4-FFF2-40B4-BE49-F238E27FC236}">
                <a16:creationId xmlns:a16="http://schemas.microsoft.com/office/drawing/2014/main" id="{930FBE6F-2177-5BAB-EDD9-A9F63B6BC750}"/>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55FA67A6-24F1-08F3-4C28-63678DE42A18}"/>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96316993-60BC-1AD7-C45C-277201C4FE79}"/>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2065545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13EA-3D5C-9ACB-4460-57BA148828D7}"/>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81063049-F9A6-F130-7048-557E7E2A9520}"/>
              </a:ext>
            </a:extLst>
          </p:cNvPr>
          <p:cNvSpPr txBox="1"/>
          <p:nvPr/>
        </p:nvSpPr>
        <p:spPr>
          <a:xfrm>
            <a:off x="3885144" y="1429407"/>
            <a:ext cx="5065987" cy="369332"/>
          </a:xfrm>
          <a:prstGeom prst="rect">
            <a:avLst/>
          </a:prstGeom>
          <a:noFill/>
        </p:spPr>
        <p:txBody>
          <a:bodyPr wrap="square" rtlCol="0">
            <a:spAutoFit/>
          </a:bodyPr>
          <a:lstStyle/>
          <a:p>
            <a:r>
              <a:rPr lang="de-CH" dirty="0"/>
              <a:t>Welche Laufzeit wünschen Sie?</a:t>
            </a:r>
          </a:p>
        </p:txBody>
      </p:sp>
      <p:sp>
        <p:nvSpPr>
          <p:cNvPr id="5" name="Textfeld 4">
            <a:extLst>
              <a:ext uri="{FF2B5EF4-FFF2-40B4-BE49-F238E27FC236}">
                <a16:creationId xmlns:a16="http://schemas.microsoft.com/office/drawing/2014/main" id="{11381914-BF6C-F1FD-3668-A062ECE0D2B9}"/>
              </a:ext>
            </a:extLst>
          </p:cNvPr>
          <p:cNvSpPr txBox="1"/>
          <p:nvPr/>
        </p:nvSpPr>
        <p:spPr>
          <a:xfrm>
            <a:off x="3885144" y="2828835"/>
            <a:ext cx="6240106" cy="1200329"/>
          </a:xfrm>
          <a:prstGeom prst="rect">
            <a:avLst/>
          </a:prstGeom>
          <a:noFill/>
        </p:spPr>
        <p:txBody>
          <a:bodyPr wrap="none" rtlCol="0">
            <a:spAutoFit/>
          </a:bodyPr>
          <a:lstStyle/>
          <a:p>
            <a:r>
              <a:rPr lang="de-DE" dirty="0"/>
              <a:t>Dropdown Auswahlmöglichkeit mit 15 Auswahlmöglichkeiten</a:t>
            </a:r>
          </a:p>
          <a:p>
            <a:pPr marL="285750" indent="-285750">
              <a:buFontTx/>
              <a:buChar char="-"/>
            </a:pPr>
            <a:r>
              <a:rPr lang="de-DE" dirty="0"/>
              <a:t>1 Jahr</a:t>
            </a:r>
          </a:p>
          <a:p>
            <a:pPr marL="285750" indent="-285750">
              <a:buFontTx/>
              <a:buChar char="-"/>
            </a:pPr>
            <a:r>
              <a:rPr lang="de-DE" dirty="0"/>
              <a:t>2 Jahre</a:t>
            </a:r>
          </a:p>
          <a:p>
            <a:pPr marL="285750" indent="-285750">
              <a:buFontTx/>
              <a:buChar char="-"/>
            </a:pPr>
            <a:r>
              <a:rPr lang="de-DE" dirty="0"/>
              <a:t>Usw. bis 15</a:t>
            </a:r>
          </a:p>
        </p:txBody>
      </p:sp>
      <p:sp>
        <p:nvSpPr>
          <p:cNvPr id="6" name="Textfeld 5">
            <a:extLst>
              <a:ext uri="{FF2B5EF4-FFF2-40B4-BE49-F238E27FC236}">
                <a16:creationId xmlns:a16="http://schemas.microsoft.com/office/drawing/2014/main" id="{82A68B96-D592-3371-0D55-7A3E80AEF1FA}"/>
              </a:ext>
            </a:extLst>
          </p:cNvPr>
          <p:cNvSpPr txBox="1"/>
          <p:nvPr/>
        </p:nvSpPr>
        <p:spPr>
          <a:xfrm>
            <a:off x="3885144" y="4494522"/>
            <a:ext cx="7833890" cy="369332"/>
          </a:xfrm>
          <a:prstGeom prst="rect">
            <a:avLst/>
          </a:prstGeom>
          <a:noFill/>
        </p:spPr>
        <p:txBody>
          <a:bodyPr wrap="square" rtlCol="0">
            <a:spAutoFit/>
          </a:bodyPr>
          <a:lstStyle/>
          <a:p>
            <a:r>
              <a:rPr lang="de-DE" dirty="0"/>
              <a:t>Nach Auswahl Absprung zu Frage auf Seite 13</a:t>
            </a:r>
          </a:p>
        </p:txBody>
      </p:sp>
      <p:sp>
        <p:nvSpPr>
          <p:cNvPr id="7" name="Textfeld 6">
            <a:extLst>
              <a:ext uri="{FF2B5EF4-FFF2-40B4-BE49-F238E27FC236}">
                <a16:creationId xmlns:a16="http://schemas.microsoft.com/office/drawing/2014/main" id="{B82CA1D4-5B95-57F7-590D-A6CE0636DA08}"/>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D16DA565-A8A3-A80C-CE12-DC13F0810F8A}"/>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25B80588-3E71-AD20-32A8-F9773F944774}"/>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265934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05E7-99B9-A389-B11A-68664D1A85BE}"/>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7CFDBC2C-7D81-08CC-8BD9-F835412875D2}"/>
              </a:ext>
            </a:extLst>
          </p:cNvPr>
          <p:cNvSpPr txBox="1"/>
          <p:nvPr/>
        </p:nvSpPr>
        <p:spPr>
          <a:xfrm>
            <a:off x="3885144" y="1429407"/>
            <a:ext cx="5065987" cy="369332"/>
          </a:xfrm>
          <a:prstGeom prst="rect">
            <a:avLst/>
          </a:prstGeom>
          <a:noFill/>
        </p:spPr>
        <p:txBody>
          <a:bodyPr wrap="square" rtlCol="0">
            <a:spAutoFit/>
          </a:bodyPr>
          <a:lstStyle/>
          <a:p>
            <a:r>
              <a:rPr lang="de-CH" dirty="0"/>
              <a:t>Welche Laufzeit wünschen Sie?</a:t>
            </a:r>
          </a:p>
        </p:txBody>
      </p:sp>
      <p:sp>
        <p:nvSpPr>
          <p:cNvPr id="5" name="Textfeld 4">
            <a:extLst>
              <a:ext uri="{FF2B5EF4-FFF2-40B4-BE49-F238E27FC236}">
                <a16:creationId xmlns:a16="http://schemas.microsoft.com/office/drawing/2014/main" id="{C0E5F2E5-790B-EC9F-0D55-E045506E4E66}"/>
              </a:ext>
            </a:extLst>
          </p:cNvPr>
          <p:cNvSpPr txBox="1"/>
          <p:nvPr/>
        </p:nvSpPr>
        <p:spPr>
          <a:xfrm>
            <a:off x="3885144" y="2828835"/>
            <a:ext cx="2435988" cy="1754326"/>
          </a:xfrm>
          <a:prstGeom prst="rect">
            <a:avLst/>
          </a:prstGeom>
          <a:noFill/>
        </p:spPr>
        <p:txBody>
          <a:bodyPr wrap="none" rtlCol="0">
            <a:spAutoFit/>
          </a:bodyPr>
          <a:lstStyle/>
          <a:p>
            <a:r>
              <a:rPr lang="de-DE" dirty="0"/>
              <a:t>Antwortmöglichkeiten:</a:t>
            </a:r>
          </a:p>
          <a:p>
            <a:r>
              <a:rPr lang="de-DE" dirty="0"/>
              <a:t>-    1 Jahr</a:t>
            </a:r>
          </a:p>
          <a:p>
            <a:pPr marL="285750" indent="-285750">
              <a:buFontTx/>
              <a:buChar char="-"/>
            </a:pPr>
            <a:r>
              <a:rPr lang="de-DE" dirty="0"/>
              <a:t>2 Jahre</a:t>
            </a:r>
          </a:p>
          <a:p>
            <a:pPr marL="285750" indent="-285750">
              <a:buFontTx/>
              <a:buChar char="-"/>
            </a:pPr>
            <a:r>
              <a:rPr lang="de-DE" dirty="0"/>
              <a:t>3 Jahre</a:t>
            </a:r>
          </a:p>
          <a:p>
            <a:pPr marL="285750" indent="-285750">
              <a:buFontTx/>
              <a:buChar char="-"/>
            </a:pPr>
            <a:r>
              <a:rPr lang="de-DE" dirty="0"/>
              <a:t>4 Jahre</a:t>
            </a:r>
          </a:p>
          <a:p>
            <a:pPr marL="285750" indent="-285750">
              <a:buFontTx/>
              <a:buChar char="-"/>
            </a:pPr>
            <a:r>
              <a:rPr lang="de-DE" dirty="0"/>
              <a:t>5 Jahre</a:t>
            </a:r>
          </a:p>
        </p:txBody>
      </p:sp>
      <p:sp>
        <p:nvSpPr>
          <p:cNvPr id="6" name="Textfeld 5">
            <a:extLst>
              <a:ext uri="{FF2B5EF4-FFF2-40B4-BE49-F238E27FC236}">
                <a16:creationId xmlns:a16="http://schemas.microsoft.com/office/drawing/2014/main" id="{90181514-8385-4663-78A3-48193F1B4240}"/>
              </a:ext>
            </a:extLst>
          </p:cNvPr>
          <p:cNvSpPr txBox="1"/>
          <p:nvPr/>
        </p:nvSpPr>
        <p:spPr>
          <a:xfrm>
            <a:off x="3885144" y="5055356"/>
            <a:ext cx="7833890" cy="369332"/>
          </a:xfrm>
          <a:prstGeom prst="rect">
            <a:avLst/>
          </a:prstGeom>
          <a:noFill/>
        </p:spPr>
        <p:txBody>
          <a:bodyPr wrap="square" rtlCol="0">
            <a:spAutoFit/>
          </a:bodyPr>
          <a:lstStyle/>
          <a:p>
            <a:r>
              <a:rPr lang="de-DE" dirty="0"/>
              <a:t>Nach Auswahl Absprung zu Frage auf Seite 13</a:t>
            </a:r>
          </a:p>
        </p:txBody>
      </p:sp>
      <p:sp>
        <p:nvSpPr>
          <p:cNvPr id="7" name="Textfeld 6">
            <a:extLst>
              <a:ext uri="{FF2B5EF4-FFF2-40B4-BE49-F238E27FC236}">
                <a16:creationId xmlns:a16="http://schemas.microsoft.com/office/drawing/2014/main" id="{44EB58B7-1379-F08A-D646-1E425047FFDE}"/>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42149C24-DA9C-990F-C60B-4AE4457C5A57}"/>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6C8CF5B4-4C4E-AADC-658F-0E9036500773}"/>
              </a:ext>
            </a:extLst>
          </p:cNvPr>
          <p:cNvSpPr txBox="1"/>
          <p:nvPr/>
        </p:nvSpPr>
        <p:spPr>
          <a:xfrm>
            <a:off x="247269" y="5055356"/>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3638617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D209-67E5-5CD5-2EF2-3D0D31F342FC}"/>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3EBB9152-BCB2-64A4-2B06-965C8391C231}"/>
              </a:ext>
            </a:extLst>
          </p:cNvPr>
          <p:cNvSpPr txBox="1"/>
          <p:nvPr/>
        </p:nvSpPr>
        <p:spPr>
          <a:xfrm>
            <a:off x="4058564" y="2755657"/>
            <a:ext cx="4060677" cy="1477328"/>
          </a:xfrm>
          <a:prstGeom prst="rect">
            <a:avLst/>
          </a:prstGeom>
          <a:noFill/>
        </p:spPr>
        <p:txBody>
          <a:bodyPr wrap="square" rtlCol="0">
            <a:spAutoFit/>
          </a:bodyPr>
          <a:lstStyle/>
          <a:p>
            <a:r>
              <a:rPr lang="de-CH" dirty="0"/>
              <a:t>- Ich wünsche direkt Offerten und benötige keine Beratung </a:t>
            </a:r>
          </a:p>
          <a:p>
            <a:r>
              <a:rPr lang="de-CH" dirty="0"/>
              <a:t>- Ich wünsche einen Termin für die Besprechung meiner Hypothek </a:t>
            </a:r>
          </a:p>
          <a:p>
            <a:pPr marL="285750" indent="-285750">
              <a:buFontTx/>
              <a:buChar char="-"/>
            </a:pPr>
            <a:endParaRPr lang="de-CH" dirty="0"/>
          </a:p>
        </p:txBody>
      </p:sp>
      <p:sp>
        <p:nvSpPr>
          <p:cNvPr id="6" name="Textfeld 5">
            <a:extLst>
              <a:ext uri="{FF2B5EF4-FFF2-40B4-BE49-F238E27FC236}">
                <a16:creationId xmlns:a16="http://schemas.microsoft.com/office/drawing/2014/main" id="{98E3A5F0-DBFF-A8D2-846C-2608861DEE96}"/>
              </a:ext>
            </a:extLst>
          </p:cNvPr>
          <p:cNvSpPr txBox="1"/>
          <p:nvPr/>
        </p:nvSpPr>
        <p:spPr>
          <a:xfrm>
            <a:off x="3885144" y="5055356"/>
            <a:ext cx="7833890" cy="369332"/>
          </a:xfrm>
          <a:prstGeom prst="rect">
            <a:avLst/>
          </a:prstGeom>
          <a:noFill/>
        </p:spPr>
        <p:txBody>
          <a:bodyPr wrap="square" rtlCol="0">
            <a:spAutoFit/>
          </a:bodyPr>
          <a:lstStyle/>
          <a:p>
            <a:r>
              <a:rPr lang="de-DE" dirty="0"/>
              <a:t>Nach Auswahl Absprung zu Frage auf Seite 14</a:t>
            </a:r>
          </a:p>
        </p:txBody>
      </p:sp>
      <p:sp>
        <p:nvSpPr>
          <p:cNvPr id="7" name="Textfeld 6">
            <a:extLst>
              <a:ext uri="{FF2B5EF4-FFF2-40B4-BE49-F238E27FC236}">
                <a16:creationId xmlns:a16="http://schemas.microsoft.com/office/drawing/2014/main" id="{D39D7385-5B6B-CAEF-228C-A069E0F645B8}"/>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40DDF920-CA10-4D91-2B5A-172190F2B64A}"/>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DE306E7D-9C71-D192-A2EB-E0772EFB62FF}"/>
              </a:ext>
            </a:extLst>
          </p:cNvPr>
          <p:cNvSpPr txBox="1"/>
          <p:nvPr/>
        </p:nvSpPr>
        <p:spPr>
          <a:xfrm>
            <a:off x="247269" y="5055356"/>
            <a:ext cx="1731756" cy="646331"/>
          </a:xfrm>
          <a:prstGeom prst="rect">
            <a:avLst/>
          </a:prstGeom>
          <a:noFill/>
        </p:spPr>
        <p:txBody>
          <a:bodyPr wrap="none" rtlCol="0">
            <a:spAutoFit/>
          </a:bodyPr>
          <a:lstStyle/>
          <a:p>
            <a:r>
              <a:rPr lang="de-DE" dirty="0"/>
              <a:t>Zur Info für dich</a:t>
            </a:r>
          </a:p>
          <a:p>
            <a:r>
              <a:rPr lang="de-DE" dirty="0"/>
              <a:t>Davide</a:t>
            </a:r>
          </a:p>
        </p:txBody>
      </p:sp>
      <p:sp>
        <p:nvSpPr>
          <p:cNvPr id="3" name="Textfeld 2">
            <a:extLst>
              <a:ext uri="{FF2B5EF4-FFF2-40B4-BE49-F238E27FC236}">
                <a16:creationId xmlns:a16="http://schemas.microsoft.com/office/drawing/2014/main" id="{6194E9F9-3905-5777-67C5-8D4D5A0D22FF}"/>
              </a:ext>
            </a:extLst>
          </p:cNvPr>
          <p:cNvSpPr txBox="1"/>
          <p:nvPr/>
        </p:nvSpPr>
        <p:spPr>
          <a:xfrm>
            <a:off x="3885144" y="1289041"/>
            <a:ext cx="4407518" cy="646331"/>
          </a:xfrm>
          <a:prstGeom prst="rect">
            <a:avLst/>
          </a:prstGeom>
          <a:noFill/>
        </p:spPr>
        <p:txBody>
          <a:bodyPr wrap="square" rtlCol="0">
            <a:spAutoFit/>
          </a:bodyPr>
          <a:lstStyle/>
          <a:p>
            <a:pPr lvl="0" eaLnBrk="0" fontAlgn="base" hangingPunct="0">
              <a:spcBef>
                <a:spcPct val="0"/>
              </a:spcBef>
              <a:spcAft>
                <a:spcPct val="0"/>
              </a:spcAft>
            </a:pPr>
            <a:r>
              <a:rPr lang="de-DE" altLang="de-DE" dirty="0"/>
              <a:t>Wünschen Sie dennoch eine Beratung oder möchten Sie direkt Offerten beziehen?</a:t>
            </a:r>
          </a:p>
        </p:txBody>
      </p:sp>
    </p:spTree>
    <p:extLst>
      <p:ext uri="{BB962C8B-B14F-4D97-AF65-F5344CB8AC3E}">
        <p14:creationId xmlns:p14="http://schemas.microsoft.com/office/powerpoint/2010/main" val="3509089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02688-6932-803B-3AB6-B330A9A19DC8}"/>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0F4409D7-AFD1-609C-20F8-DEA9CE7106A6}"/>
              </a:ext>
            </a:extLst>
          </p:cNvPr>
          <p:cNvSpPr txBox="1"/>
          <p:nvPr/>
        </p:nvSpPr>
        <p:spPr>
          <a:xfrm>
            <a:off x="4058564" y="2755657"/>
            <a:ext cx="4060677" cy="1477328"/>
          </a:xfrm>
          <a:prstGeom prst="rect">
            <a:avLst/>
          </a:prstGeom>
          <a:noFill/>
        </p:spPr>
        <p:txBody>
          <a:bodyPr wrap="square" rtlCol="0">
            <a:spAutoFit/>
          </a:bodyPr>
          <a:lstStyle/>
          <a:p>
            <a:r>
              <a:rPr lang="de-CH" dirty="0"/>
              <a:t>- Ich wünsche direkt Offerten und benötige keine Beratung </a:t>
            </a:r>
          </a:p>
          <a:p>
            <a:r>
              <a:rPr lang="de-CH" dirty="0"/>
              <a:t>- Ich wünsche einen Termin für die Besprechung meiner Hypothek </a:t>
            </a:r>
          </a:p>
          <a:p>
            <a:pPr marL="285750" indent="-285750">
              <a:buFontTx/>
              <a:buChar char="-"/>
            </a:pPr>
            <a:endParaRPr lang="de-CH" dirty="0"/>
          </a:p>
        </p:txBody>
      </p:sp>
      <p:sp>
        <p:nvSpPr>
          <p:cNvPr id="6" name="Textfeld 5">
            <a:extLst>
              <a:ext uri="{FF2B5EF4-FFF2-40B4-BE49-F238E27FC236}">
                <a16:creationId xmlns:a16="http://schemas.microsoft.com/office/drawing/2014/main" id="{EB0C4AD7-D87E-DA53-B040-E1F14AA119F4}"/>
              </a:ext>
            </a:extLst>
          </p:cNvPr>
          <p:cNvSpPr txBox="1"/>
          <p:nvPr/>
        </p:nvSpPr>
        <p:spPr>
          <a:xfrm>
            <a:off x="3885144" y="5055356"/>
            <a:ext cx="7833890" cy="923330"/>
          </a:xfrm>
          <a:prstGeom prst="rect">
            <a:avLst/>
          </a:prstGeom>
          <a:noFill/>
        </p:spPr>
        <p:txBody>
          <a:bodyPr wrap="square" rtlCol="0">
            <a:spAutoFit/>
          </a:bodyPr>
          <a:lstStyle/>
          <a:p>
            <a:r>
              <a:rPr lang="de-DE" dirty="0"/>
              <a:t>Wenn direkt Offerte gewünscht wird (1. Antwort) </a:t>
            </a:r>
            <a:r>
              <a:rPr lang="de-DE" dirty="0">
                <a:sym typeface="Wingdings" pitchFamily="2" charset="2"/>
              </a:rPr>
              <a:t> Absprung zu Seite 15</a:t>
            </a:r>
          </a:p>
          <a:p>
            <a:endParaRPr lang="de-DE" dirty="0">
              <a:sym typeface="Wingdings" pitchFamily="2" charset="2"/>
            </a:endParaRPr>
          </a:p>
          <a:p>
            <a:r>
              <a:rPr lang="de-DE" dirty="0">
                <a:sym typeface="Wingdings" pitchFamily="2" charset="2"/>
              </a:rPr>
              <a:t>Wenn ein Termin gewünscht wird  Absprung zu Seite 16</a:t>
            </a:r>
            <a:endParaRPr lang="de-DE" dirty="0"/>
          </a:p>
        </p:txBody>
      </p:sp>
      <p:sp>
        <p:nvSpPr>
          <p:cNvPr id="7" name="Textfeld 6">
            <a:extLst>
              <a:ext uri="{FF2B5EF4-FFF2-40B4-BE49-F238E27FC236}">
                <a16:creationId xmlns:a16="http://schemas.microsoft.com/office/drawing/2014/main" id="{3AD943A1-110F-0F9D-A912-40E7E24E7AD5}"/>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ECE2BD0F-2509-730F-E1DF-476C8675BBD4}"/>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46C3F3D9-16E1-0598-29C9-F31F579F704B}"/>
              </a:ext>
            </a:extLst>
          </p:cNvPr>
          <p:cNvSpPr txBox="1"/>
          <p:nvPr/>
        </p:nvSpPr>
        <p:spPr>
          <a:xfrm>
            <a:off x="247269" y="5055356"/>
            <a:ext cx="1731756" cy="646331"/>
          </a:xfrm>
          <a:prstGeom prst="rect">
            <a:avLst/>
          </a:prstGeom>
          <a:noFill/>
        </p:spPr>
        <p:txBody>
          <a:bodyPr wrap="none" rtlCol="0">
            <a:spAutoFit/>
          </a:bodyPr>
          <a:lstStyle/>
          <a:p>
            <a:r>
              <a:rPr lang="de-DE" dirty="0"/>
              <a:t>Zur Info für dich</a:t>
            </a:r>
          </a:p>
          <a:p>
            <a:r>
              <a:rPr lang="de-DE" dirty="0"/>
              <a:t>Davide</a:t>
            </a:r>
          </a:p>
        </p:txBody>
      </p:sp>
      <p:sp>
        <p:nvSpPr>
          <p:cNvPr id="3" name="Textfeld 2">
            <a:extLst>
              <a:ext uri="{FF2B5EF4-FFF2-40B4-BE49-F238E27FC236}">
                <a16:creationId xmlns:a16="http://schemas.microsoft.com/office/drawing/2014/main" id="{0D8D937A-5D06-15DA-5486-E363BAEA6089}"/>
              </a:ext>
            </a:extLst>
          </p:cNvPr>
          <p:cNvSpPr txBox="1"/>
          <p:nvPr/>
        </p:nvSpPr>
        <p:spPr>
          <a:xfrm>
            <a:off x="3885144" y="1289041"/>
            <a:ext cx="4407518" cy="646331"/>
          </a:xfrm>
          <a:prstGeom prst="rect">
            <a:avLst/>
          </a:prstGeom>
          <a:noFill/>
        </p:spPr>
        <p:txBody>
          <a:bodyPr wrap="square" rtlCol="0">
            <a:spAutoFit/>
          </a:bodyPr>
          <a:lstStyle/>
          <a:p>
            <a:pPr lvl="0" eaLnBrk="0" fontAlgn="base" hangingPunct="0">
              <a:spcBef>
                <a:spcPct val="0"/>
              </a:spcBef>
              <a:spcAft>
                <a:spcPct val="0"/>
              </a:spcAft>
            </a:pPr>
            <a:r>
              <a:rPr lang="de-DE" altLang="de-DE" dirty="0"/>
              <a:t>Wünschen Sie dennoch eine Beratung oder möchten Sie direkt Offerten beziehen?</a:t>
            </a:r>
          </a:p>
        </p:txBody>
      </p:sp>
    </p:spTree>
    <p:extLst>
      <p:ext uri="{BB962C8B-B14F-4D97-AF65-F5344CB8AC3E}">
        <p14:creationId xmlns:p14="http://schemas.microsoft.com/office/powerpoint/2010/main" val="4157993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3903-A862-2903-FC52-4022526FB362}"/>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C51CACA7-A823-F36E-0AE8-613B647057EB}"/>
              </a:ext>
            </a:extLst>
          </p:cNvPr>
          <p:cNvSpPr txBox="1"/>
          <p:nvPr/>
        </p:nvSpPr>
        <p:spPr>
          <a:xfrm>
            <a:off x="3695958" y="367578"/>
            <a:ext cx="7833890" cy="4524315"/>
          </a:xfrm>
          <a:prstGeom prst="rect">
            <a:avLst/>
          </a:prstGeom>
          <a:noFill/>
        </p:spPr>
        <p:txBody>
          <a:bodyPr wrap="square" rtlCol="0">
            <a:spAutoFit/>
          </a:bodyPr>
          <a:lstStyle/>
          <a:p>
            <a:r>
              <a:rPr lang="de-CH" dirty="0"/>
              <a:t>Vielen Dank für Ihre Angaben! Bitte geben Sie uns nun noch Ihren Vor-und Nachnamen mit Ihrer E-Mail-Adresse an, damit wir Ihnen per Mail die individuelle Unterlagencheckliste mit einem Link für die sichere Dokumentenübermittlung zusenden können. Bei postalischer Zusendung, bitten wir Sie uns die Unterlagen (Bitte nur Kopien!) an folgende Adresse zuzusenden:</a:t>
            </a:r>
          </a:p>
          <a:p>
            <a:r>
              <a:rPr lang="de-CH" dirty="0"/>
              <a:t>HYPONOVA GmbH</a:t>
            </a:r>
          </a:p>
          <a:p>
            <a:r>
              <a:rPr lang="de-CH" dirty="0"/>
              <a:t>Dahlienweg 22</a:t>
            </a:r>
          </a:p>
          <a:p>
            <a:r>
              <a:rPr lang="de-CH" dirty="0"/>
              <a:t>4313 Möhlin</a:t>
            </a:r>
          </a:p>
          <a:p>
            <a:endParaRPr lang="de-CH" dirty="0"/>
          </a:p>
          <a:p>
            <a:r>
              <a:rPr lang="de-CH" dirty="0"/>
              <a:t>Feld für Vorname, Nachname, Mailadresse</a:t>
            </a:r>
          </a:p>
          <a:p>
            <a:endParaRPr lang="de-CH" dirty="0"/>
          </a:p>
          <a:p>
            <a:r>
              <a:rPr lang="de-CH" dirty="0"/>
              <a:t>Sobald Sie uns die Unterlagen zugesendet haben, werden Sie innerhalb von 24 Stunden von Ihrem Hypothekenberater kontaktiert. Bei allfälligen Fragen oder Anliegen dürfen Sie sich ungeniert bei uns melden. </a:t>
            </a:r>
          </a:p>
          <a:p>
            <a:pPr marL="285750" indent="-285750">
              <a:buFontTx/>
              <a:buChar char="-"/>
            </a:pPr>
            <a:endParaRPr lang="de-CH" dirty="0"/>
          </a:p>
        </p:txBody>
      </p:sp>
      <p:sp>
        <p:nvSpPr>
          <p:cNvPr id="7" name="Textfeld 6">
            <a:extLst>
              <a:ext uri="{FF2B5EF4-FFF2-40B4-BE49-F238E27FC236}">
                <a16:creationId xmlns:a16="http://schemas.microsoft.com/office/drawing/2014/main" id="{787DFE70-FB0A-9B54-0340-09A14DB1B1E9}"/>
              </a:ext>
            </a:extLst>
          </p:cNvPr>
          <p:cNvSpPr txBox="1"/>
          <p:nvPr/>
        </p:nvSpPr>
        <p:spPr>
          <a:xfrm>
            <a:off x="336331" y="1429407"/>
            <a:ext cx="666080" cy="369332"/>
          </a:xfrm>
          <a:prstGeom prst="rect">
            <a:avLst/>
          </a:prstGeom>
          <a:noFill/>
        </p:spPr>
        <p:txBody>
          <a:bodyPr wrap="none" rtlCol="0">
            <a:spAutoFit/>
          </a:bodyPr>
          <a:lstStyle/>
          <a:p>
            <a:r>
              <a:rPr lang="de-DE" dirty="0"/>
              <a:t>Text  </a:t>
            </a:r>
          </a:p>
        </p:txBody>
      </p:sp>
      <p:sp>
        <p:nvSpPr>
          <p:cNvPr id="8" name="Textfeld 7">
            <a:extLst>
              <a:ext uri="{FF2B5EF4-FFF2-40B4-BE49-F238E27FC236}">
                <a16:creationId xmlns:a16="http://schemas.microsoft.com/office/drawing/2014/main" id="{768572C3-9CBD-EF4A-E499-30485D2E8CA9}"/>
              </a:ext>
            </a:extLst>
          </p:cNvPr>
          <p:cNvSpPr txBox="1"/>
          <p:nvPr/>
        </p:nvSpPr>
        <p:spPr>
          <a:xfrm>
            <a:off x="336331" y="3078823"/>
            <a:ext cx="1078500"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381A018C-492D-4933-CA6F-02C5478FB50B}"/>
              </a:ext>
            </a:extLst>
          </p:cNvPr>
          <p:cNvSpPr txBox="1"/>
          <p:nvPr/>
        </p:nvSpPr>
        <p:spPr>
          <a:xfrm>
            <a:off x="247269" y="5055356"/>
            <a:ext cx="1731756" cy="646331"/>
          </a:xfrm>
          <a:prstGeom prst="rect">
            <a:avLst/>
          </a:prstGeom>
          <a:noFill/>
        </p:spPr>
        <p:txBody>
          <a:bodyPr wrap="none" rtlCol="0">
            <a:spAutoFit/>
          </a:bodyPr>
          <a:lstStyle/>
          <a:p>
            <a:r>
              <a:rPr lang="de-DE" dirty="0"/>
              <a:t>Zur Info für dich</a:t>
            </a:r>
          </a:p>
          <a:p>
            <a:r>
              <a:rPr lang="de-DE" dirty="0"/>
              <a:t>Davide</a:t>
            </a:r>
          </a:p>
        </p:txBody>
      </p:sp>
      <p:sp>
        <p:nvSpPr>
          <p:cNvPr id="2" name="Textfeld 1">
            <a:extLst>
              <a:ext uri="{FF2B5EF4-FFF2-40B4-BE49-F238E27FC236}">
                <a16:creationId xmlns:a16="http://schemas.microsoft.com/office/drawing/2014/main" id="{7B9A3724-B6A3-667F-3608-DA2C2C8EF1EB}"/>
              </a:ext>
            </a:extLst>
          </p:cNvPr>
          <p:cNvSpPr txBox="1"/>
          <p:nvPr/>
        </p:nvSpPr>
        <p:spPr>
          <a:xfrm>
            <a:off x="3695958" y="5055356"/>
            <a:ext cx="7402966" cy="1200329"/>
          </a:xfrm>
          <a:prstGeom prst="rect">
            <a:avLst/>
          </a:prstGeom>
          <a:noFill/>
        </p:spPr>
        <p:txBody>
          <a:bodyPr wrap="square" rtlCol="0">
            <a:spAutoFit/>
          </a:bodyPr>
          <a:lstStyle/>
          <a:p>
            <a:r>
              <a:rPr lang="de-DE" dirty="0"/>
              <a:t>Prozess abgeschlossen. Mail mit Link für Dokumentenupload und richtiger Unterlagencheckliste (</a:t>
            </a:r>
            <a:r>
              <a:rPr lang="de-DE" dirty="0" err="1"/>
              <a:t>gemäss</a:t>
            </a:r>
            <a:r>
              <a:rPr lang="de-DE" dirty="0"/>
              <a:t> den angewählten Antworten) geht per Mail automatisch raus. Bezüglich Dokumentenupload siehe Folie 16 meine Ergänzungen. </a:t>
            </a:r>
          </a:p>
        </p:txBody>
      </p:sp>
    </p:spTree>
    <p:extLst>
      <p:ext uri="{BB962C8B-B14F-4D97-AF65-F5344CB8AC3E}">
        <p14:creationId xmlns:p14="http://schemas.microsoft.com/office/powerpoint/2010/main" val="120738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Text, Screenshot, Rechteck enthält.&#10;&#10;KI-generierte Inhalte können fehlerhaft sein.">
            <a:extLst>
              <a:ext uri="{FF2B5EF4-FFF2-40B4-BE49-F238E27FC236}">
                <a16:creationId xmlns:a16="http://schemas.microsoft.com/office/drawing/2014/main" id="{C249268E-DB52-4775-E5C6-3D0C9DF7828A}"/>
              </a:ext>
            </a:extLst>
          </p:cNvPr>
          <p:cNvPicPr>
            <a:picLocks noChangeAspect="1"/>
          </p:cNvPicPr>
          <p:nvPr/>
        </p:nvPicPr>
        <p:blipFill>
          <a:blip r:embed="rId2"/>
          <a:stretch>
            <a:fillRect/>
          </a:stretch>
        </p:blipFill>
        <p:spPr>
          <a:xfrm>
            <a:off x="1057013" y="1688379"/>
            <a:ext cx="6246799" cy="4666072"/>
          </a:xfrm>
          <a:prstGeom prst="rect">
            <a:avLst/>
          </a:prstGeom>
        </p:spPr>
      </p:pic>
      <p:sp>
        <p:nvSpPr>
          <p:cNvPr id="8" name="Textfeld 7">
            <a:extLst>
              <a:ext uri="{FF2B5EF4-FFF2-40B4-BE49-F238E27FC236}">
                <a16:creationId xmlns:a16="http://schemas.microsoft.com/office/drawing/2014/main" id="{5F19E71C-D929-2FE6-7573-FD829B3EB112}"/>
              </a:ext>
            </a:extLst>
          </p:cNvPr>
          <p:cNvSpPr txBox="1"/>
          <p:nvPr/>
        </p:nvSpPr>
        <p:spPr>
          <a:xfrm>
            <a:off x="825062" y="503549"/>
            <a:ext cx="10541876" cy="923330"/>
          </a:xfrm>
          <a:prstGeom prst="rect">
            <a:avLst/>
          </a:prstGeom>
          <a:noFill/>
        </p:spPr>
        <p:txBody>
          <a:bodyPr wrap="square">
            <a:spAutoFit/>
          </a:bodyPr>
          <a:lstStyle/>
          <a:p>
            <a:pPr>
              <a:buNone/>
            </a:pPr>
            <a:r>
              <a:rPr lang="de-CH" dirty="0">
                <a:effectLst/>
                <a:latin typeface="Helvetica" pitchFamily="2" charset="0"/>
              </a:rPr>
              <a:t>Vielen Dank für Ihre Angaben! </a:t>
            </a:r>
            <a:r>
              <a:rPr lang="de-CH" dirty="0">
                <a:latin typeface="Helvetica" pitchFamily="2" charset="0"/>
              </a:rPr>
              <a:t>Gerne nehmen wir uns die Zeit, um die Hypothekarablösung mit Ihnen zu besprechen. Buchen Sie jetzt einen Onlinetermin mit Ihrem persönlichen Hypothekenberater bequem von zu Hause aus. </a:t>
            </a:r>
          </a:p>
        </p:txBody>
      </p:sp>
      <p:cxnSp>
        <p:nvCxnSpPr>
          <p:cNvPr id="10" name="Gerade Verbindung 9">
            <a:extLst>
              <a:ext uri="{FF2B5EF4-FFF2-40B4-BE49-F238E27FC236}">
                <a16:creationId xmlns:a16="http://schemas.microsoft.com/office/drawing/2014/main" id="{4E8A1557-8A91-FD70-147D-1BE1A967216C}"/>
              </a:ext>
            </a:extLst>
          </p:cNvPr>
          <p:cNvCxnSpPr/>
          <p:nvPr/>
        </p:nvCxnSpPr>
        <p:spPr>
          <a:xfrm>
            <a:off x="1057013" y="1845578"/>
            <a:ext cx="364082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14" name="Textfeld 13">
            <a:extLst>
              <a:ext uri="{FF2B5EF4-FFF2-40B4-BE49-F238E27FC236}">
                <a16:creationId xmlns:a16="http://schemas.microsoft.com/office/drawing/2014/main" id="{3719AEEE-DA38-94F2-E970-E34D8D3A39C3}"/>
              </a:ext>
            </a:extLst>
          </p:cNvPr>
          <p:cNvSpPr txBox="1"/>
          <p:nvPr/>
        </p:nvSpPr>
        <p:spPr>
          <a:xfrm>
            <a:off x="6954473" y="2080470"/>
            <a:ext cx="4899171" cy="3416320"/>
          </a:xfrm>
          <a:prstGeom prst="rect">
            <a:avLst/>
          </a:prstGeom>
          <a:noFill/>
        </p:spPr>
        <p:txBody>
          <a:bodyPr wrap="square" rtlCol="0">
            <a:spAutoFit/>
          </a:bodyPr>
          <a:lstStyle/>
          <a:p>
            <a:r>
              <a:rPr lang="de-DE" dirty="0"/>
              <a:t>Frage an dich Davide: </a:t>
            </a:r>
          </a:p>
          <a:p>
            <a:r>
              <a:rPr lang="de-DE" dirty="0" err="1"/>
              <a:t>Gemäss</a:t>
            </a:r>
            <a:r>
              <a:rPr lang="de-DE" dirty="0"/>
              <a:t> den ausgewählten Angaben im Fragebogen ergibt sich eine Unterlagencheckliste. Können wir es einrichten, dass in der Terminbestätigung dann die richtige </a:t>
            </a:r>
          </a:p>
          <a:p>
            <a:r>
              <a:rPr lang="de-DE" dirty="0"/>
              <a:t>PDF Unterlagen Checkliste im Anhang mitgesendet wird ? In dieser Terminbestätigung soll auch ein </a:t>
            </a:r>
            <a:r>
              <a:rPr lang="de-DE" dirty="0" err="1"/>
              <a:t>Uploadlink</a:t>
            </a:r>
            <a:r>
              <a:rPr lang="de-DE" dirty="0"/>
              <a:t> für die Unterlagen sein</a:t>
            </a:r>
          </a:p>
          <a:p>
            <a:r>
              <a:rPr lang="de-DE" dirty="0"/>
              <a:t>Dieser Link soll im besten Fall individuell sein, sodass die Unterlagen in irgendeinem Tool direkt in einem eigenen Kundenordner landen. </a:t>
            </a:r>
          </a:p>
          <a:p>
            <a:endParaRPr lang="de-DE" dirty="0"/>
          </a:p>
        </p:txBody>
      </p:sp>
    </p:spTree>
    <p:extLst>
      <p:ext uri="{BB962C8B-B14F-4D97-AF65-F5344CB8AC3E}">
        <p14:creationId xmlns:p14="http://schemas.microsoft.com/office/powerpoint/2010/main" val="306991518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887</Words>
  <Application>Microsoft Macintosh PowerPoint</Application>
  <PresentationFormat>Breitbild</PresentationFormat>
  <Paragraphs>159</Paragraphs>
  <Slides>16</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16</vt:i4>
      </vt:variant>
    </vt:vector>
  </HeadingPairs>
  <TitlesOfParts>
    <vt:vector size="23" baseType="lpstr">
      <vt:lpstr>-webkit-standard</vt:lpstr>
      <vt:lpstr>Aptos</vt:lpstr>
      <vt:lpstr>Aptos Display</vt:lpstr>
      <vt:lpstr>Arial</vt:lpstr>
      <vt:lpstr>Helvetica</vt:lpstr>
      <vt:lpstr>Wingdings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Topalli</dc:creator>
  <cp:lastModifiedBy>Simon Topalli</cp:lastModifiedBy>
  <cp:revision>5</cp:revision>
  <dcterms:created xsi:type="dcterms:W3CDTF">2026-04-18T21:38:35Z</dcterms:created>
  <dcterms:modified xsi:type="dcterms:W3CDTF">2026-04-19T12:10:09Z</dcterms:modified>
</cp:coreProperties>
</file>