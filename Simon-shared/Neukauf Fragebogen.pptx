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1" r:id="rId5"/>
    <p:sldId id="263" r:id="rId6"/>
    <p:sldId id="258"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84"/>
    <p:restoredTop sz="94694"/>
  </p:normalViewPr>
  <p:slideViewPr>
    <p:cSldViewPr snapToGrid="0">
      <p:cViewPr varScale="1">
        <p:scale>
          <a:sx n="121" d="100"/>
          <a:sy n="121" d="100"/>
        </p:scale>
        <p:origin x="10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780D94-8B89-0C8B-449A-53339C3F37C7}"/>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4B09EBBB-D918-88FF-CDD9-B8F081CDF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3F82DAD4-6F08-5FC8-89E3-07483D4962B5}"/>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5" name="Fußzeilenplatzhalter 4">
            <a:extLst>
              <a:ext uri="{FF2B5EF4-FFF2-40B4-BE49-F238E27FC236}">
                <a16:creationId xmlns:a16="http://schemas.microsoft.com/office/drawing/2014/main" id="{C8BA251B-EA67-6E05-6655-CCDEFF3F895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9E28298-9FAF-2D12-FF5A-5A0AE1B9586A}"/>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2449854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69689A-B34E-BEB9-A3CA-A64FF31243B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D632A0B-8CCD-5839-5BB0-323E7FDAA32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ACE6E0A-7862-524A-7A9C-7FE4C5332131}"/>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5" name="Fußzeilenplatzhalter 4">
            <a:extLst>
              <a:ext uri="{FF2B5EF4-FFF2-40B4-BE49-F238E27FC236}">
                <a16:creationId xmlns:a16="http://schemas.microsoft.com/office/drawing/2014/main" id="{2A5982B0-F9DA-22A7-6F34-947D0D247E3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3555B9A-B1C8-CE4E-5895-6320E2BD1C44}"/>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1485545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052927-DFB1-73FA-5E6B-B136A20A8B0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0522FE5E-4FD0-2AF1-7655-011E2AD39F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53D63F14-97A9-FE45-62E9-3CCB33189980}"/>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5" name="Fußzeilenplatzhalter 4">
            <a:extLst>
              <a:ext uri="{FF2B5EF4-FFF2-40B4-BE49-F238E27FC236}">
                <a16:creationId xmlns:a16="http://schemas.microsoft.com/office/drawing/2014/main" id="{75328A30-4C4A-5A17-0769-56B3DBCBFDC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4133CF6-7285-691B-0851-09185AEA77A8}"/>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2775006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EBDA58-BB69-A0E7-4F8A-9EFCD1E8AC3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BC17DCBC-F73F-C1CB-93FE-DD6DDA23FD5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B7550600-8974-6B6C-C8CA-27ED6EBC51A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8986C829-933F-0BBB-A26A-2D292097256F}"/>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6" name="Fußzeilenplatzhalter 5">
            <a:extLst>
              <a:ext uri="{FF2B5EF4-FFF2-40B4-BE49-F238E27FC236}">
                <a16:creationId xmlns:a16="http://schemas.microsoft.com/office/drawing/2014/main" id="{4A1CBE88-A496-752E-4A41-493FC9B1481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237126D-BBDB-DB41-402C-91CB84B48076}"/>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3460452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D1808D-7A7A-7FD8-070B-E24B571E75BE}"/>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277DA631-B00B-2EB7-3F19-0DA94ED6B3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E1107B5-0CC4-59C4-321D-694E02F341A5}"/>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13BFE276-248F-92A3-8C49-58BA199C13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823C35B-FEA1-6F06-BE6B-A3484DF1EC3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E3685B7B-2FEE-7393-9C44-72935BEB43FF}"/>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8" name="Fußzeilenplatzhalter 7">
            <a:extLst>
              <a:ext uri="{FF2B5EF4-FFF2-40B4-BE49-F238E27FC236}">
                <a16:creationId xmlns:a16="http://schemas.microsoft.com/office/drawing/2014/main" id="{AD7C57E4-1811-05D4-B89C-4B2CB61C728D}"/>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C8291493-BB45-20FE-E2F2-06843FE36616}"/>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274020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D1B5E1-B80A-B8FB-700E-171712282538}"/>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AD7E67E4-2D41-2E35-B616-9C11B767E68D}"/>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4" name="Fußzeilenplatzhalter 3">
            <a:extLst>
              <a:ext uri="{FF2B5EF4-FFF2-40B4-BE49-F238E27FC236}">
                <a16:creationId xmlns:a16="http://schemas.microsoft.com/office/drawing/2014/main" id="{323B2883-1CC8-74D9-5ED6-CD9C89B0E39F}"/>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EAEC5538-8846-CF65-149E-94516D4B3849}"/>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1160713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1708802-9CE4-F0E9-FECF-C1A966D5DC02}"/>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3" name="Fußzeilenplatzhalter 2">
            <a:extLst>
              <a:ext uri="{FF2B5EF4-FFF2-40B4-BE49-F238E27FC236}">
                <a16:creationId xmlns:a16="http://schemas.microsoft.com/office/drawing/2014/main" id="{B318E485-BAF9-2DE2-E5D6-A16B5B08A9FE}"/>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833B35F-7288-B73B-945D-DCA8A416DE12}"/>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429036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AE1F34-3381-2D58-EAAA-D0CA6912C10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78DFA20-B820-7084-CE99-6B1C786554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9F8AD0C0-D157-9124-0C0F-D0A77B14D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79F95D8-5534-4265-3BC5-60A0BE230D93}"/>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6" name="Fußzeilenplatzhalter 5">
            <a:extLst>
              <a:ext uri="{FF2B5EF4-FFF2-40B4-BE49-F238E27FC236}">
                <a16:creationId xmlns:a16="http://schemas.microsoft.com/office/drawing/2014/main" id="{71B0C6EC-A344-BD6C-D464-3F73EB58D99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528FFE26-DAD9-8ED1-BC40-FB3C83942CEE}"/>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3130078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F00B98-FDDB-6E64-9452-2F455CDE383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40E579C-0E3A-F09C-FC35-B4E59329CA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2EBDEE98-8056-9528-7551-53D3D0DF77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5B9B26B-9460-3309-6FAB-6E6DB385C30D}"/>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6" name="Fußzeilenplatzhalter 5">
            <a:extLst>
              <a:ext uri="{FF2B5EF4-FFF2-40B4-BE49-F238E27FC236}">
                <a16:creationId xmlns:a16="http://schemas.microsoft.com/office/drawing/2014/main" id="{6628008F-FE7B-1DEE-BA80-F220D5B9F92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B6AE532-881E-ABD8-B80A-573F0DED079C}"/>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3780190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52AB26-49DC-1645-73D5-B5F0D92D9F1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09FC1EA1-5495-2619-9FDF-8778CCB78124}"/>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021EF9-504E-4291-9F59-8414A7B57499}"/>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5" name="Fußzeilenplatzhalter 4">
            <a:extLst>
              <a:ext uri="{FF2B5EF4-FFF2-40B4-BE49-F238E27FC236}">
                <a16:creationId xmlns:a16="http://schemas.microsoft.com/office/drawing/2014/main" id="{F6366BF9-9E91-E355-5977-95866E6DFFE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77107AD-9B84-CC12-4A42-D4CDC2D2D608}"/>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2772485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09421AE-1205-64A9-090C-12A2470F7F50}"/>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B514E75E-FF9E-23C4-FF2F-F98401832F30}"/>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ABA05F1-8556-E9D6-89FC-28AECE22E744}"/>
              </a:ext>
            </a:extLst>
          </p:cNvPr>
          <p:cNvSpPr>
            <a:spLocks noGrp="1"/>
          </p:cNvSpPr>
          <p:nvPr>
            <p:ph type="dt" sz="half" idx="10"/>
          </p:nvPr>
        </p:nvSpPr>
        <p:spPr/>
        <p:txBody>
          <a:bodyPr/>
          <a:lstStyle/>
          <a:p>
            <a:fld id="{D7C825CF-ADF1-A84B-8890-6E67B7BD1CAE}" type="datetimeFigureOut">
              <a:rPr lang="de-DE" smtClean="0"/>
              <a:t>19.04.26</a:t>
            </a:fld>
            <a:endParaRPr lang="de-DE"/>
          </a:p>
        </p:txBody>
      </p:sp>
      <p:sp>
        <p:nvSpPr>
          <p:cNvPr id="5" name="Fußzeilenplatzhalter 4">
            <a:extLst>
              <a:ext uri="{FF2B5EF4-FFF2-40B4-BE49-F238E27FC236}">
                <a16:creationId xmlns:a16="http://schemas.microsoft.com/office/drawing/2014/main" id="{99547516-7477-6825-44B0-A95067B8E6C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3F48F14-875B-9167-7342-EDC6CEF32FB0}"/>
              </a:ext>
            </a:extLst>
          </p:cNvPr>
          <p:cNvSpPr>
            <a:spLocks noGrp="1"/>
          </p:cNvSpPr>
          <p:nvPr>
            <p:ph type="sldNum" sz="quarter" idx="12"/>
          </p:nvPr>
        </p:nvSpPr>
        <p:spPr/>
        <p:txBody>
          <a:bodyPr/>
          <a:lstStyle/>
          <a:p>
            <a:fld id="{775F3809-5CA5-8645-940A-125415AF0D19}" type="slidenum">
              <a:rPr lang="de-DE" smtClean="0"/>
              <a:t>‹Nr.›</a:t>
            </a:fld>
            <a:endParaRPr lang="de-DE"/>
          </a:p>
        </p:txBody>
      </p:sp>
    </p:spTree>
    <p:extLst>
      <p:ext uri="{BB962C8B-B14F-4D97-AF65-F5344CB8AC3E}">
        <p14:creationId xmlns:p14="http://schemas.microsoft.com/office/powerpoint/2010/main" val="363383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9E35AD4-B09C-CCDD-D858-488AE33B6C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F65217C8-B759-FAE9-B7FF-F4806DC479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697E7EA-1BA5-AF06-FDAC-2FA0F0AF3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C825CF-ADF1-A84B-8890-6E67B7BD1CAE}" type="datetimeFigureOut">
              <a:rPr lang="de-DE" smtClean="0"/>
              <a:t>19.04.26</a:t>
            </a:fld>
            <a:endParaRPr lang="de-DE"/>
          </a:p>
        </p:txBody>
      </p:sp>
      <p:sp>
        <p:nvSpPr>
          <p:cNvPr id="5" name="Fußzeilenplatzhalter 4">
            <a:extLst>
              <a:ext uri="{FF2B5EF4-FFF2-40B4-BE49-F238E27FC236}">
                <a16:creationId xmlns:a16="http://schemas.microsoft.com/office/drawing/2014/main" id="{F3DC7CDD-8412-4B8B-E6B0-69AC1AC9D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D8B391FB-DFA1-C71C-25D5-E6939F56C2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5F3809-5CA5-8645-940A-125415AF0D19}" type="slidenum">
              <a:rPr lang="de-DE" smtClean="0"/>
              <a:t>‹Nr.›</a:t>
            </a:fld>
            <a:endParaRPr lang="de-DE"/>
          </a:p>
        </p:txBody>
      </p:sp>
    </p:spTree>
    <p:extLst>
      <p:ext uri="{BB962C8B-B14F-4D97-AF65-F5344CB8AC3E}">
        <p14:creationId xmlns:p14="http://schemas.microsoft.com/office/powerpoint/2010/main" val="3258488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Ein Bild, das Text, Screenshot, Schrift enthält.&#10;&#10;KI-generierte Inhalte können fehlerhaft sein.">
            <a:extLst>
              <a:ext uri="{FF2B5EF4-FFF2-40B4-BE49-F238E27FC236}">
                <a16:creationId xmlns:a16="http://schemas.microsoft.com/office/drawing/2014/main" id="{88C6A1F8-1780-1047-82CC-06C297420BE2}"/>
              </a:ext>
            </a:extLst>
          </p:cNvPr>
          <p:cNvPicPr>
            <a:picLocks noChangeAspect="1"/>
          </p:cNvPicPr>
          <p:nvPr/>
        </p:nvPicPr>
        <p:blipFill>
          <a:blip r:embed="rId2"/>
          <a:stretch>
            <a:fillRect/>
          </a:stretch>
        </p:blipFill>
        <p:spPr>
          <a:xfrm>
            <a:off x="3187700" y="1701800"/>
            <a:ext cx="5816600" cy="3454400"/>
          </a:xfrm>
          <a:prstGeom prst="rect">
            <a:avLst/>
          </a:prstGeom>
        </p:spPr>
      </p:pic>
    </p:spTree>
    <p:extLst>
      <p:ext uri="{BB962C8B-B14F-4D97-AF65-F5344CB8AC3E}">
        <p14:creationId xmlns:p14="http://schemas.microsoft.com/office/powerpoint/2010/main" val="65242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088E54FA-69FE-F466-662A-1B17B765FBF1}"/>
              </a:ext>
            </a:extLst>
          </p:cNvPr>
          <p:cNvSpPr txBox="1"/>
          <p:nvPr/>
        </p:nvSpPr>
        <p:spPr>
          <a:xfrm>
            <a:off x="3885144" y="1290907"/>
            <a:ext cx="5065987" cy="646331"/>
          </a:xfrm>
          <a:prstGeom prst="rect">
            <a:avLst/>
          </a:prstGeom>
          <a:noFill/>
        </p:spPr>
        <p:txBody>
          <a:bodyPr wrap="square" rtlCol="0">
            <a:spAutoFit/>
          </a:bodyPr>
          <a:lstStyle/>
          <a:p>
            <a:r>
              <a:rPr lang="de-DE" dirty="0"/>
              <a:t>In welchem Kanton befindet sich Ihre Wunschimmobilie? </a:t>
            </a:r>
          </a:p>
        </p:txBody>
      </p:sp>
      <p:sp>
        <p:nvSpPr>
          <p:cNvPr id="5" name="Textfeld 4">
            <a:extLst>
              <a:ext uri="{FF2B5EF4-FFF2-40B4-BE49-F238E27FC236}">
                <a16:creationId xmlns:a16="http://schemas.microsoft.com/office/drawing/2014/main" id="{40FB2B7C-A818-D3C3-1E73-723231251FF7}"/>
              </a:ext>
            </a:extLst>
          </p:cNvPr>
          <p:cNvSpPr txBox="1"/>
          <p:nvPr/>
        </p:nvSpPr>
        <p:spPr>
          <a:xfrm>
            <a:off x="3885144" y="2940323"/>
            <a:ext cx="4544153" cy="923330"/>
          </a:xfrm>
          <a:prstGeom prst="rect">
            <a:avLst/>
          </a:prstGeom>
          <a:noFill/>
        </p:spPr>
        <p:txBody>
          <a:bodyPr wrap="square" rtlCol="0">
            <a:spAutoFit/>
          </a:bodyPr>
          <a:lstStyle/>
          <a:p>
            <a:r>
              <a:rPr lang="de-DE" dirty="0"/>
              <a:t>Dropdown Auswahlmöglichkeit mit allen 26 Kantonen ausgeschrieben: </a:t>
            </a:r>
          </a:p>
          <a:p>
            <a:r>
              <a:rPr lang="de-DE" dirty="0"/>
              <a:t>Beispiel: Aargau</a:t>
            </a:r>
          </a:p>
        </p:txBody>
      </p:sp>
      <p:sp>
        <p:nvSpPr>
          <p:cNvPr id="6" name="Textfeld 5">
            <a:extLst>
              <a:ext uri="{FF2B5EF4-FFF2-40B4-BE49-F238E27FC236}">
                <a16:creationId xmlns:a16="http://schemas.microsoft.com/office/drawing/2014/main" id="{2E1424B0-6A50-4B3B-5322-4F7C1C38E224}"/>
              </a:ext>
            </a:extLst>
          </p:cNvPr>
          <p:cNvSpPr txBox="1"/>
          <p:nvPr/>
        </p:nvSpPr>
        <p:spPr>
          <a:xfrm>
            <a:off x="3885144" y="4494522"/>
            <a:ext cx="4985587" cy="923330"/>
          </a:xfrm>
          <a:prstGeom prst="rect">
            <a:avLst/>
          </a:prstGeom>
          <a:noFill/>
        </p:spPr>
        <p:txBody>
          <a:bodyPr wrap="square" rtlCol="0">
            <a:spAutoFit/>
          </a:bodyPr>
          <a:lstStyle/>
          <a:p>
            <a:r>
              <a:rPr lang="de-DE" dirty="0"/>
              <a:t>Sobald ein Kanton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38A2FAC9-F99F-15EA-B814-48064B735F9E}"/>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C6AF75A3-EC9B-11D9-7E2F-41E7057641E5}"/>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FE475167-DD8D-3019-6E67-B9E8A65B4711}"/>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1458496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A1B09-0664-19CF-B0C9-308EB58252FB}"/>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DFB3CCC0-640D-79EA-34AC-AB4999722E19}"/>
              </a:ext>
            </a:extLst>
          </p:cNvPr>
          <p:cNvSpPr txBox="1"/>
          <p:nvPr/>
        </p:nvSpPr>
        <p:spPr>
          <a:xfrm>
            <a:off x="3864124" y="1290907"/>
            <a:ext cx="5065987" cy="646331"/>
          </a:xfrm>
          <a:prstGeom prst="rect">
            <a:avLst/>
          </a:prstGeom>
          <a:noFill/>
        </p:spPr>
        <p:txBody>
          <a:bodyPr wrap="square" rtlCol="0">
            <a:spAutoFit/>
          </a:bodyPr>
          <a:lstStyle/>
          <a:p>
            <a:r>
              <a:rPr lang="de-DE" dirty="0"/>
              <a:t>Welche Art von Objekt trifft auf Ihre Wunschliegenschaft zu?</a:t>
            </a:r>
          </a:p>
        </p:txBody>
      </p:sp>
      <p:sp>
        <p:nvSpPr>
          <p:cNvPr id="5" name="Textfeld 4">
            <a:extLst>
              <a:ext uri="{FF2B5EF4-FFF2-40B4-BE49-F238E27FC236}">
                <a16:creationId xmlns:a16="http://schemas.microsoft.com/office/drawing/2014/main" id="{CD81AA71-271F-59EA-148A-DDD1C5356155}"/>
              </a:ext>
            </a:extLst>
          </p:cNvPr>
          <p:cNvSpPr txBox="1"/>
          <p:nvPr/>
        </p:nvSpPr>
        <p:spPr>
          <a:xfrm>
            <a:off x="3864124" y="2967335"/>
            <a:ext cx="7276287" cy="1200329"/>
          </a:xfrm>
          <a:prstGeom prst="rect">
            <a:avLst/>
          </a:prstGeom>
          <a:noFill/>
        </p:spPr>
        <p:txBody>
          <a:bodyPr wrap="none" rtlCol="0">
            <a:spAutoFit/>
          </a:bodyPr>
          <a:lstStyle/>
          <a:p>
            <a:r>
              <a:rPr lang="de-DE" dirty="0"/>
              <a:t>Dropdown Auswahlmöglichkeit mit: </a:t>
            </a:r>
          </a:p>
          <a:p>
            <a:r>
              <a:rPr lang="de-DE" dirty="0"/>
              <a:t>-    Einfamilienhaus (</a:t>
            </a:r>
            <a:r>
              <a:rPr lang="de-CH" dirty="0"/>
              <a:t>Reihen, Doppel oder freistehendes Einfamilienhaus)</a:t>
            </a:r>
            <a:endParaRPr lang="de-DE" dirty="0"/>
          </a:p>
          <a:p>
            <a:pPr marL="285750" indent="-285750">
              <a:buFontTx/>
              <a:buChar char="-"/>
            </a:pPr>
            <a:r>
              <a:rPr lang="de-DE" dirty="0"/>
              <a:t>Eigentumswohnung (STWE)</a:t>
            </a:r>
          </a:p>
          <a:p>
            <a:pPr marL="285750" indent="-285750">
              <a:buFontTx/>
              <a:buChar char="-"/>
            </a:pPr>
            <a:r>
              <a:rPr lang="de-DE" dirty="0"/>
              <a:t>Zweifamilienhaus</a:t>
            </a:r>
          </a:p>
        </p:txBody>
      </p:sp>
      <p:sp>
        <p:nvSpPr>
          <p:cNvPr id="6" name="Textfeld 5">
            <a:extLst>
              <a:ext uri="{FF2B5EF4-FFF2-40B4-BE49-F238E27FC236}">
                <a16:creationId xmlns:a16="http://schemas.microsoft.com/office/drawing/2014/main" id="{3201264A-B7DB-1267-821C-E6337F174681}"/>
              </a:ext>
            </a:extLst>
          </p:cNvPr>
          <p:cNvSpPr txBox="1"/>
          <p:nvPr/>
        </p:nvSpPr>
        <p:spPr>
          <a:xfrm>
            <a:off x="3864125" y="4494521"/>
            <a:ext cx="5342938" cy="923330"/>
          </a:xfrm>
          <a:prstGeom prst="rect">
            <a:avLst/>
          </a:prstGeom>
          <a:noFill/>
        </p:spPr>
        <p:txBody>
          <a:bodyPr wrap="square" rtlCol="0">
            <a:spAutoFit/>
          </a:bodyPr>
          <a:lstStyle/>
          <a:p>
            <a:r>
              <a:rPr lang="de-DE" dirty="0"/>
              <a:t>Sobald die Objektart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6EA3595F-5F7C-07B0-2A93-4294B1BB5CDA}"/>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0E0EE6A8-5488-E2E9-21D6-48401152110F}"/>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FD3099EF-75D6-2651-9AB0-8F2F1221AA23}"/>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589574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7B23-8A50-CF97-12AD-E2997BE4446F}"/>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3FAC3379-60CC-8A9D-929D-60FFFE2015E7}"/>
              </a:ext>
            </a:extLst>
          </p:cNvPr>
          <p:cNvSpPr txBox="1"/>
          <p:nvPr/>
        </p:nvSpPr>
        <p:spPr>
          <a:xfrm>
            <a:off x="3853613" y="1429407"/>
            <a:ext cx="5065987" cy="369332"/>
          </a:xfrm>
          <a:prstGeom prst="rect">
            <a:avLst/>
          </a:prstGeom>
          <a:noFill/>
        </p:spPr>
        <p:txBody>
          <a:bodyPr wrap="square" rtlCol="0">
            <a:spAutoFit/>
          </a:bodyPr>
          <a:lstStyle/>
          <a:p>
            <a:r>
              <a:rPr lang="de-DE" dirty="0"/>
              <a:t>Wie ist der Status des Objekts?</a:t>
            </a:r>
          </a:p>
        </p:txBody>
      </p:sp>
      <p:sp>
        <p:nvSpPr>
          <p:cNvPr id="5" name="Textfeld 4">
            <a:extLst>
              <a:ext uri="{FF2B5EF4-FFF2-40B4-BE49-F238E27FC236}">
                <a16:creationId xmlns:a16="http://schemas.microsoft.com/office/drawing/2014/main" id="{B4748DDB-A836-32F6-A60C-48C5A07F8527}"/>
              </a:ext>
            </a:extLst>
          </p:cNvPr>
          <p:cNvSpPr txBox="1"/>
          <p:nvPr/>
        </p:nvSpPr>
        <p:spPr>
          <a:xfrm>
            <a:off x="3853613" y="2967335"/>
            <a:ext cx="3759299" cy="923330"/>
          </a:xfrm>
          <a:prstGeom prst="rect">
            <a:avLst/>
          </a:prstGeom>
          <a:noFill/>
        </p:spPr>
        <p:txBody>
          <a:bodyPr wrap="none" rtlCol="0">
            <a:spAutoFit/>
          </a:bodyPr>
          <a:lstStyle/>
          <a:p>
            <a:r>
              <a:rPr lang="de-DE" dirty="0"/>
              <a:t>Dropdown Auswahlmöglichkeit mit: </a:t>
            </a:r>
          </a:p>
          <a:p>
            <a:pPr marL="285750" indent="-285750">
              <a:buFontTx/>
              <a:buChar char="-"/>
            </a:pPr>
            <a:r>
              <a:rPr lang="de-DE" dirty="0"/>
              <a:t>Bestehend</a:t>
            </a:r>
          </a:p>
          <a:p>
            <a:pPr marL="285750" indent="-285750">
              <a:buFontTx/>
              <a:buChar char="-"/>
            </a:pPr>
            <a:r>
              <a:rPr lang="de-DE" dirty="0"/>
              <a:t>Neubau </a:t>
            </a:r>
          </a:p>
        </p:txBody>
      </p:sp>
      <p:sp>
        <p:nvSpPr>
          <p:cNvPr id="6" name="Textfeld 5">
            <a:extLst>
              <a:ext uri="{FF2B5EF4-FFF2-40B4-BE49-F238E27FC236}">
                <a16:creationId xmlns:a16="http://schemas.microsoft.com/office/drawing/2014/main" id="{7BBB8EAA-0920-E104-A04A-5F215E7B79BE}"/>
              </a:ext>
            </a:extLst>
          </p:cNvPr>
          <p:cNvSpPr txBox="1"/>
          <p:nvPr/>
        </p:nvSpPr>
        <p:spPr>
          <a:xfrm>
            <a:off x="3853613" y="4494521"/>
            <a:ext cx="5342939" cy="923330"/>
          </a:xfrm>
          <a:prstGeom prst="rect">
            <a:avLst/>
          </a:prstGeom>
          <a:noFill/>
        </p:spPr>
        <p:txBody>
          <a:bodyPr wrap="square" rtlCol="0">
            <a:spAutoFit/>
          </a:bodyPr>
          <a:lstStyle/>
          <a:p>
            <a:r>
              <a:rPr lang="de-DE" dirty="0"/>
              <a:t>Sobald der Objektstatus ausgewählt wurde, soll automatisch die nächste Frage aus</a:t>
            </a:r>
          </a:p>
          <a:p>
            <a:r>
              <a:rPr lang="de-DE" dirty="0"/>
              <a:t>dem Fragebogen erscheinen</a:t>
            </a:r>
          </a:p>
        </p:txBody>
      </p:sp>
      <p:sp>
        <p:nvSpPr>
          <p:cNvPr id="7" name="Textfeld 6">
            <a:extLst>
              <a:ext uri="{FF2B5EF4-FFF2-40B4-BE49-F238E27FC236}">
                <a16:creationId xmlns:a16="http://schemas.microsoft.com/office/drawing/2014/main" id="{5E919925-D49A-69E9-4CD3-A927290A408B}"/>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30EB93F8-C5B9-E8AA-4ACF-EFB71B6C4AD4}"/>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D5395BC7-9647-F187-1048-7905A47D07DC}"/>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2058244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55AA-864E-8CA7-C71B-F9875EB5A3C1}"/>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F5E37B75-EF28-FF0E-ACE5-7B6C30EE22A5}"/>
              </a:ext>
            </a:extLst>
          </p:cNvPr>
          <p:cNvSpPr txBox="1"/>
          <p:nvPr/>
        </p:nvSpPr>
        <p:spPr>
          <a:xfrm>
            <a:off x="3885144" y="1429407"/>
            <a:ext cx="5065987" cy="369332"/>
          </a:xfrm>
          <a:prstGeom prst="rect">
            <a:avLst/>
          </a:prstGeom>
          <a:noFill/>
        </p:spPr>
        <p:txBody>
          <a:bodyPr wrap="square" rtlCol="0">
            <a:spAutoFit/>
          </a:bodyPr>
          <a:lstStyle/>
          <a:p>
            <a:r>
              <a:rPr lang="de-DE" dirty="0"/>
              <a:t>Welche Tätigkeit trifft auf Sie zu?</a:t>
            </a:r>
          </a:p>
        </p:txBody>
      </p:sp>
      <p:sp>
        <p:nvSpPr>
          <p:cNvPr id="5" name="Textfeld 4">
            <a:extLst>
              <a:ext uri="{FF2B5EF4-FFF2-40B4-BE49-F238E27FC236}">
                <a16:creationId xmlns:a16="http://schemas.microsoft.com/office/drawing/2014/main" id="{15C435D0-8282-22D4-DB78-A5CBFA47664A}"/>
              </a:ext>
            </a:extLst>
          </p:cNvPr>
          <p:cNvSpPr txBox="1"/>
          <p:nvPr/>
        </p:nvSpPr>
        <p:spPr>
          <a:xfrm>
            <a:off x="3885144" y="2801824"/>
            <a:ext cx="3759299" cy="1200329"/>
          </a:xfrm>
          <a:prstGeom prst="rect">
            <a:avLst/>
          </a:prstGeom>
          <a:noFill/>
        </p:spPr>
        <p:txBody>
          <a:bodyPr wrap="none" rtlCol="0">
            <a:spAutoFit/>
          </a:bodyPr>
          <a:lstStyle/>
          <a:p>
            <a:r>
              <a:rPr lang="de-DE" dirty="0"/>
              <a:t>Dropdown Auswahlmöglichkeit mit: </a:t>
            </a:r>
          </a:p>
          <a:p>
            <a:pPr marL="285750" indent="-285750">
              <a:buFontTx/>
              <a:buChar char="-"/>
            </a:pPr>
            <a:r>
              <a:rPr lang="de-DE" dirty="0"/>
              <a:t>Angestellt</a:t>
            </a:r>
          </a:p>
          <a:p>
            <a:pPr marL="285750" indent="-285750">
              <a:buFontTx/>
              <a:buChar char="-"/>
            </a:pPr>
            <a:r>
              <a:rPr lang="de-DE" dirty="0"/>
              <a:t>Selbständig </a:t>
            </a:r>
          </a:p>
          <a:p>
            <a:pPr marL="285750" indent="-285750">
              <a:buFontTx/>
              <a:buChar char="-"/>
            </a:pPr>
            <a:r>
              <a:rPr lang="de-DE" dirty="0"/>
              <a:t>Pensioniert</a:t>
            </a:r>
          </a:p>
        </p:txBody>
      </p:sp>
      <p:sp>
        <p:nvSpPr>
          <p:cNvPr id="6" name="Textfeld 5">
            <a:extLst>
              <a:ext uri="{FF2B5EF4-FFF2-40B4-BE49-F238E27FC236}">
                <a16:creationId xmlns:a16="http://schemas.microsoft.com/office/drawing/2014/main" id="{C4DBA71E-2C72-AD55-9ED8-4E81BF142667}"/>
              </a:ext>
            </a:extLst>
          </p:cNvPr>
          <p:cNvSpPr txBox="1"/>
          <p:nvPr/>
        </p:nvSpPr>
        <p:spPr>
          <a:xfrm>
            <a:off x="3885144" y="4494522"/>
            <a:ext cx="4848953" cy="923330"/>
          </a:xfrm>
          <a:prstGeom prst="rect">
            <a:avLst/>
          </a:prstGeom>
          <a:noFill/>
        </p:spPr>
        <p:txBody>
          <a:bodyPr wrap="square" rtlCol="0">
            <a:spAutoFit/>
          </a:bodyPr>
          <a:lstStyle/>
          <a:p>
            <a:r>
              <a:rPr lang="de-DE" dirty="0"/>
              <a:t>Sobald die Tätigkeit ausgewählt wurde, soll automatisch die Maske mit der Terminbuchungsplattform erscheinen</a:t>
            </a:r>
          </a:p>
        </p:txBody>
      </p:sp>
      <p:sp>
        <p:nvSpPr>
          <p:cNvPr id="7" name="Textfeld 6">
            <a:extLst>
              <a:ext uri="{FF2B5EF4-FFF2-40B4-BE49-F238E27FC236}">
                <a16:creationId xmlns:a16="http://schemas.microsoft.com/office/drawing/2014/main" id="{8C24CC43-6F83-7E66-4A87-C929A1378D66}"/>
              </a:ext>
            </a:extLst>
          </p:cNvPr>
          <p:cNvSpPr txBox="1"/>
          <p:nvPr/>
        </p:nvSpPr>
        <p:spPr>
          <a:xfrm>
            <a:off x="336331" y="1429407"/>
            <a:ext cx="776816" cy="369332"/>
          </a:xfrm>
          <a:prstGeom prst="rect">
            <a:avLst/>
          </a:prstGeom>
          <a:noFill/>
        </p:spPr>
        <p:txBody>
          <a:bodyPr wrap="none" rtlCol="0">
            <a:spAutoFit/>
          </a:bodyPr>
          <a:lstStyle/>
          <a:p>
            <a:r>
              <a:rPr lang="de-DE" dirty="0"/>
              <a:t>Frage </a:t>
            </a:r>
          </a:p>
        </p:txBody>
      </p:sp>
      <p:sp>
        <p:nvSpPr>
          <p:cNvPr id="8" name="Textfeld 7">
            <a:extLst>
              <a:ext uri="{FF2B5EF4-FFF2-40B4-BE49-F238E27FC236}">
                <a16:creationId xmlns:a16="http://schemas.microsoft.com/office/drawing/2014/main" id="{CB5EDCBF-2003-A57A-C27F-00AE0B0FC2A5}"/>
              </a:ext>
            </a:extLst>
          </p:cNvPr>
          <p:cNvSpPr txBox="1"/>
          <p:nvPr/>
        </p:nvSpPr>
        <p:spPr>
          <a:xfrm>
            <a:off x="336331" y="3078823"/>
            <a:ext cx="1012778" cy="369332"/>
          </a:xfrm>
          <a:prstGeom prst="rect">
            <a:avLst/>
          </a:prstGeom>
          <a:noFill/>
        </p:spPr>
        <p:txBody>
          <a:bodyPr wrap="none" rtlCol="0">
            <a:spAutoFit/>
          </a:bodyPr>
          <a:lstStyle/>
          <a:p>
            <a:r>
              <a:rPr lang="de-DE" dirty="0"/>
              <a:t>Antwort </a:t>
            </a:r>
          </a:p>
        </p:txBody>
      </p:sp>
      <p:sp>
        <p:nvSpPr>
          <p:cNvPr id="9" name="Textfeld 8">
            <a:extLst>
              <a:ext uri="{FF2B5EF4-FFF2-40B4-BE49-F238E27FC236}">
                <a16:creationId xmlns:a16="http://schemas.microsoft.com/office/drawing/2014/main" id="{2227FAE2-7E7E-78B8-9A4B-4D5E5CF685F0}"/>
              </a:ext>
            </a:extLst>
          </p:cNvPr>
          <p:cNvSpPr txBox="1"/>
          <p:nvPr/>
        </p:nvSpPr>
        <p:spPr>
          <a:xfrm>
            <a:off x="247269" y="4494522"/>
            <a:ext cx="1731756" cy="646331"/>
          </a:xfrm>
          <a:prstGeom prst="rect">
            <a:avLst/>
          </a:prstGeom>
          <a:noFill/>
        </p:spPr>
        <p:txBody>
          <a:bodyPr wrap="none" rtlCol="0">
            <a:spAutoFit/>
          </a:bodyPr>
          <a:lstStyle/>
          <a:p>
            <a:r>
              <a:rPr lang="de-DE" dirty="0"/>
              <a:t>Zur Info für dich</a:t>
            </a:r>
          </a:p>
          <a:p>
            <a:r>
              <a:rPr lang="de-DE" dirty="0"/>
              <a:t>Davide</a:t>
            </a:r>
          </a:p>
        </p:txBody>
      </p:sp>
    </p:spTree>
    <p:extLst>
      <p:ext uri="{BB962C8B-B14F-4D97-AF65-F5344CB8AC3E}">
        <p14:creationId xmlns:p14="http://schemas.microsoft.com/office/powerpoint/2010/main" val="2175507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Ein Bild, das Text, Screenshot, Rechteck enthält.&#10;&#10;KI-generierte Inhalte können fehlerhaft sein.">
            <a:extLst>
              <a:ext uri="{FF2B5EF4-FFF2-40B4-BE49-F238E27FC236}">
                <a16:creationId xmlns:a16="http://schemas.microsoft.com/office/drawing/2014/main" id="{C249268E-DB52-4775-E5C6-3D0C9DF7828A}"/>
              </a:ext>
            </a:extLst>
          </p:cNvPr>
          <p:cNvPicPr>
            <a:picLocks noChangeAspect="1"/>
          </p:cNvPicPr>
          <p:nvPr/>
        </p:nvPicPr>
        <p:blipFill>
          <a:blip r:embed="rId2"/>
          <a:stretch>
            <a:fillRect/>
          </a:stretch>
        </p:blipFill>
        <p:spPr>
          <a:xfrm>
            <a:off x="1057013" y="1688379"/>
            <a:ext cx="6246799" cy="4666072"/>
          </a:xfrm>
          <a:prstGeom prst="rect">
            <a:avLst/>
          </a:prstGeom>
        </p:spPr>
      </p:pic>
      <p:sp>
        <p:nvSpPr>
          <p:cNvPr id="8" name="Textfeld 7">
            <a:extLst>
              <a:ext uri="{FF2B5EF4-FFF2-40B4-BE49-F238E27FC236}">
                <a16:creationId xmlns:a16="http://schemas.microsoft.com/office/drawing/2014/main" id="{5F19E71C-D929-2FE6-7573-FD829B3EB112}"/>
              </a:ext>
            </a:extLst>
          </p:cNvPr>
          <p:cNvSpPr txBox="1"/>
          <p:nvPr/>
        </p:nvSpPr>
        <p:spPr>
          <a:xfrm>
            <a:off x="825062" y="503549"/>
            <a:ext cx="10541876" cy="923330"/>
          </a:xfrm>
          <a:prstGeom prst="rect">
            <a:avLst/>
          </a:prstGeom>
          <a:noFill/>
        </p:spPr>
        <p:txBody>
          <a:bodyPr wrap="square">
            <a:spAutoFit/>
          </a:bodyPr>
          <a:lstStyle/>
          <a:p>
            <a:pPr>
              <a:buNone/>
            </a:pPr>
            <a:r>
              <a:rPr lang="de-CH" dirty="0">
                <a:effectLst/>
                <a:latin typeface="Helvetica" pitchFamily="2" charset="0"/>
              </a:rPr>
              <a:t>Vielen Dank für Ihre Angaben! </a:t>
            </a:r>
            <a:r>
              <a:rPr lang="de-CH" dirty="0">
                <a:latin typeface="Helvetica" pitchFamily="2" charset="0"/>
              </a:rPr>
              <a:t>Da ein Neukauf sehr viele Themenbereiche umfasst, ist ein Termin unausweichlich. Gerne nehmen wir uns die Zeit, um alle Eckpunkte des Liegenschaftskaufes mit Ihnen zu besprechen. Buchen Sie jetzt ihr kostenloses Erstgespräch bequem von zu Hause aus. </a:t>
            </a:r>
          </a:p>
        </p:txBody>
      </p:sp>
      <p:cxnSp>
        <p:nvCxnSpPr>
          <p:cNvPr id="10" name="Gerade Verbindung 9">
            <a:extLst>
              <a:ext uri="{FF2B5EF4-FFF2-40B4-BE49-F238E27FC236}">
                <a16:creationId xmlns:a16="http://schemas.microsoft.com/office/drawing/2014/main" id="{4E8A1557-8A91-FD70-147D-1BE1A967216C}"/>
              </a:ext>
            </a:extLst>
          </p:cNvPr>
          <p:cNvCxnSpPr/>
          <p:nvPr/>
        </p:nvCxnSpPr>
        <p:spPr>
          <a:xfrm>
            <a:off x="1057013" y="1845578"/>
            <a:ext cx="3640822"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14" name="Textfeld 13">
            <a:extLst>
              <a:ext uri="{FF2B5EF4-FFF2-40B4-BE49-F238E27FC236}">
                <a16:creationId xmlns:a16="http://schemas.microsoft.com/office/drawing/2014/main" id="{3719AEEE-DA38-94F2-E970-E34D8D3A39C3}"/>
              </a:ext>
            </a:extLst>
          </p:cNvPr>
          <p:cNvSpPr txBox="1"/>
          <p:nvPr/>
        </p:nvSpPr>
        <p:spPr>
          <a:xfrm>
            <a:off x="6954473" y="2080470"/>
            <a:ext cx="4899171" cy="3416320"/>
          </a:xfrm>
          <a:prstGeom prst="rect">
            <a:avLst/>
          </a:prstGeom>
          <a:noFill/>
        </p:spPr>
        <p:txBody>
          <a:bodyPr wrap="square" rtlCol="0">
            <a:spAutoFit/>
          </a:bodyPr>
          <a:lstStyle/>
          <a:p>
            <a:r>
              <a:rPr lang="de-DE" dirty="0"/>
              <a:t>Frage an dich Davide: </a:t>
            </a:r>
          </a:p>
          <a:p>
            <a:r>
              <a:rPr lang="de-DE" dirty="0" err="1"/>
              <a:t>Gemäss</a:t>
            </a:r>
            <a:r>
              <a:rPr lang="de-DE" dirty="0"/>
              <a:t> den ausgewählten Angaben im Fragebogen ergibt sich eine Unterlagencheckliste. Können wir es einrichten, dass in der Terminbestätigung dann die richtige </a:t>
            </a:r>
          </a:p>
          <a:p>
            <a:r>
              <a:rPr lang="de-DE" dirty="0"/>
              <a:t>PDF Unterlagen Checkliste im Anhang mitgesendet wird ? In dieser Terminbestätigung soll auch ein </a:t>
            </a:r>
            <a:r>
              <a:rPr lang="de-DE" dirty="0" err="1"/>
              <a:t>Uploadlink</a:t>
            </a:r>
            <a:r>
              <a:rPr lang="de-DE" dirty="0"/>
              <a:t> für die Unterlagen sein</a:t>
            </a:r>
          </a:p>
          <a:p>
            <a:r>
              <a:rPr lang="de-DE" dirty="0"/>
              <a:t>Dieser Link soll im </a:t>
            </a:r>
            <a:r>
              <a:rPr lang="de-DE" dirty="0" err="1"/>
              <a:t>bestenfall</a:t>
            </a:r>
            <a:r>
              <a:rPr lang="de-DE" dirty="0"/>
              <a:t> individuell sein, sodass die Unterlagen in irgendeinem Tool direkt in einem eigenen Kundenordner landen. </a:t>
            </a:r>
          </a:p>
          <a:p>
            <a:endParaRPr lang="de-DE" dirty="0"/>
          </a:p>
        </p:txBody>
      </p:sp>
    </p:spTree>
    <p:extLst>
      <p:ext uri="{BB962C8B-B14F-4D97-AF65-F5344CB8AC3E}">
        <p14:creationId xmlns:p14="http://schemas.microsoft.com/office/powerpoint/2010/main" val="306991518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278</Words>
  <Application>Microsoft Macintosh PowerPoint</Application>
  <PresentationFormat>Breitbild</PresentationFormat>
  <Paragraphs>45</Paragraphs>
  <Slides>6</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6</vt:i4>
      </vt:variant>
    </vt:vector>
  </HeadingPairs>
  <TitlesOfParts>
    <vt:vector size="11" baseType="lpstr">
      <vt:lpstr>Aptos</vt:lpstr>
      <vt:lpstr>Aptos Display</vt:lpstr>
      <vt:lpstr>Arial</vt:lpstr>
      <vt:lpstr>Helvetica</vt:lpstr>
      <vt:lpstr>Office</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Topalli</dc:creator>
  <cp:lastModifiedBy>Simon Topalli</cp:lastModifiedBy>
  <cp:revision>3</cp:revision>
  <dcterms:created xsi:type="dcterms:W3CDTF">2026-04-16T19:59:35Z</dcterms:created>
  <dcterms:modified xsi:type="dcterms:W3CDTF">2026-04-19T12:10:14Z</dcterms:modified>
</cp:coreProperties>
</file>